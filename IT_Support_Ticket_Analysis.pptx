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charts/chart9.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mbria"/>
              </a:defRPr>
            </a:pPr>
            <a:r>
              <a:rPr sz="1400" b="0" i="0" u="none" strike="noStrike">
                <a:solidFill>
                  <a:srgbClr val="000000"/>
                </a:solidFill>
                <a:latin typeface="Cambria"/>
              </a:rPr>
              <a:t>Tickets by Request Category</a:t>
            </a:r>
          </a:p>
        </c:rich>
      </c:tx>
      <c:overlay val="0"/>
    </c:title>
    <c:autoTitleDeleted val="0"/>
    <c:plotArea>
      <c:layout/>
      <c:barChart>
        <c:barDir val="bar"/>
        <c:grouping val="clustered"/>
        <c:varyColors val="0"/>
        <c:ser>
          <c:idx val="0"/>
          <c:order val="0"/>
          <c:tx>
            <c:strRef>
              <c:f>Sheet1!$B$1</c:f>
              <c:strCache>
                <c:ptCount val="1"/>
                <c:pt idx="0">
                  <c:v>Tickets</c:v>
                </c:pt>
              </c:strCache>
            </c:strRef>
          </c:tx>
          <c:spPr>
            <a:solidFill>
              <a:srgbClr val="2E86AB"/>
            </a:solidFill>
            <a:effectLst/>
          </c:spPr>
          <c:invertIfNegative val="0"/>
          <c:dLbls>
            <c:numFmt formatCode="#,##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Hardware</c:v>
                </c:pt>
                <c:pt idx="1">
                  <c:v>Login Access</c:v>
                </c:pt>
                <c:pt idx="2">
                  <c:v>Software</c:v>
                </c:pt>
                <c:pt idx="3">
                  <c:v>System</c:v>
                </c:pt>
              </c:strCache>
            </c:strRef>
          </c:cat>
          <c:val>
            <c:numRef>
              <c:f>Sheet1!$B$2:$B$5</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0-9E9F-4072-AA6B-09A47CC79CE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EA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Cambria"/>
              </a:defRPr>
            </a:pPr>
            <a:r>
              <a:rPr sz="1300" b="0" i="0" u="none" strike="noStrike">
                <a:solidFill>
                  <a:srgbClr val="000000"/>
                </a:solidFill>
                <a:latin typeface="Cambria"/>
              </a:rPr>
              <a:t>Issue Type Split</a:t>
            </a:r>
          </a:p>
        </c:rich>
      </c:tx>
      <c:overlay val="0"/>
    </c:title>
    <c:autoTitleDeleted val="0"/>
    <c:plotArea>
      <c:layout/>
      <c:pieChart>
        <c:varyColors val="1"/>
        <c:ser>
          <c:idx val="0"/>
          <c:order val="0"/>
          <c:tx>
            <c:strRef>
              <c:f>Sheet1!$B$1</c:f>
              <c:strCache>
                <c:ptCount val="1"/>
                <c:pt idx="0">
                  <c:v>Issue Type</c:v>
                </c:pt>
              </c:strCache>
            </c:strRef>
          </c:tx>
          <c:spPr>
            <a:solidFill>
              <a:schemeClr val="accent1"/>
            </a:solidFill>
            <a:ln w="9525" cap="flat">
              <a:solidFill>
                <a:srgbClr val="F9F9F9"/>
              </a:solidFill>
              <a:prstDash val="solid"/>
              <a:round/>
            </a:ln>
            <a:effectLst/>
          </c:spPr>
          <c:dPt>
            <c:idx val="0"/>
            <c:bubble3D val="0"/>
            <c:spPr>
              <a:solidFill>
                <a:srgbClr val="2E86AB"/>
              </a:solidFill>
              <a:effectLst/>
            </c:spPr>
            <c:extLst>
              <c:ext xmlns:c16="http://schemas.microsoft.com/office/drawing/2014/chart" uri="{C3380CC4-5D6E-409C-BE32-E72D297353CC}">
                <c16:uniqueId val="{00000001-426B-461F-9783-03F580BE6FCA}"/>
              </c:ext>
            </c:extLst>
          </c:dPt>
          <c:dPt>
            <c:idx val="1"/>
            <c:bubble3D val="0"/>
            <c:spPr>
              <a:solidFill>
                <a:srgbClr val="F4A300"/>
              </a:solidFill>
              <a:effectLst/>
            </c:spPr>
            <c:extLst>
              <c:ext xmlns:c16="http://schemas.microsoft.com/office/drawing/2014/chart" uri="{C3380CC4-5D6E-409C-BE32-E72D297353CC}">
                <c16:uniqueId val="{00000003-426B-461F-9783-03F580BE6FCA}"/>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26B-461F-9783-03F580BE6FCA}"/>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26B-461F-9783-03F580BE6FC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IT Request</c:v>
                </c:pt>
                <c:pt idx="1">
                  <c:v>IT Error</c:v>
                </c:pt>
              </c:strCache>
            </c:strRef>
          </c:cat>
          <c:val>
            <c:numRef>
              <c:f>Sheet1!$B$2:$B$3</c:f>
              <c:numCache>
                <c:formatCode>General</c:formatCode>
                <c:ptCount val="2"/>
                <c:pt idx="0">
                  <c:v>73220</c:v>
                </c:pt>
                <c:pt idx="1">
                  <c:v>24278</c:v>
                </c:pt>
              </c:numCache>
            </c:numRef>
          </c:val>
          <c:extLst>
            <c:ext xmlns:c16="http://schemas.microsoft.com/office/drawing/2014/chart" uri="{C3380CC4-5D6E-409C-BE32-E72D297353CC}">
              <c16:uniqueId val="{00000004-426B-461F-9783-03F580BE6FCA}"/>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50"/>
          </a:pPr>
          <a:endParaRPr lang="en-US"/>
        </a:p>
      </c:txPr>
    </c:legend>
    <c:plotVisOnly val="1"/>
    <c:dispBlanksAs val="span"/>
    <c:showDLblsOverMax val="1"/>
  </c:chart>
  <c:spPr>
    <a:solidFill>
      <a:srgbClr val="F5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Cambria"/>
              </a:defRPr>
            </a:pPr>
            <a:r>
              <a:rPr sz="1300" b="0" i="0" u="none" strike="noStrike">
                <a:solidFill>
                  <a:srgbClr val="000000"/>
                </a:solidFill>
                <a:latin typeface="Cambria"/>
              </a:rPr>
              <a:t>Tickets by Severity</a:t>
            </a:r>
          </a:p>
        </c:rich>
      </c:tx>
      <c:overlay val="0"/>
    </c:title>
    <c:autoTitleDeleted val="0"/>
    <c:plotArea>
      <c:layout/>
      <c:barChart>
        <c:barDir val="col"/>
        <c:grouping val="clustered"/>
        <c:varyColors val="0"/>
        <c:ser>
          <c:idx val="0"/>
          <c:order val="0"/>
          <c:tx>
            <c:strRef>
              <c:f>Sheet1!$B$1</c:f>
              <c:strCache>
                <c:ptCount val="1"/>
                <c:pt idx="0">
                  <c:v>Tickets</c:v>
                </c:pt>
              </c:strCache>
            </c:strRef>
          </c:tx>
          <c:spPr>
            <a:solidFill>
              <a:srgbClr val="1B2A4A"/>
            </a:solidFill>
            <a:effectLst/>
          </c:spPr>
          <c:invertIfNegative val="0"/>
          <c:dLbls>
            <c:numFmt formatCode="#,##0" sourceLinked="0"/>
            <c:spPr>
              <a:noFill/>
              <a:ln>
                <a:noFill/>
              </a:ln>
              <a:effectLst/>
            </c:spPr>
            <c:txPr>
              <a:bodyPr/>
              <a:lstStyle/>
              <a:p>
                <a:pPr>
                  <a:defRPr sz="95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Unclassified</c:v>
                </c:pt>
                <c:pt idx="1">
                  <c:v>Minor</c:v>
                </c:pt>
                <c:pt idx="2">
                  <c:v>Normal</c:v>
                </c:pt>
                <c:pt idx="3">
                  <c:v>Major</c:v>
                </c:pt>
                <c:pt idx="4">
                  <c:v>Urgent</c:v>
                </c:pt>
              </c:strCache>
            </c:strRef>
          </c:cat>
          <c:val>
            <c:numRef>
              <c:f>Sheet1!$B$2:$B$6</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422A-44B1-A10E-CDE97D4686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mbria"/>
              </a:defRPr>
            </a:pPr>
            <a:r>
              <a:rPr sz="1400" b="0" i="0" u="none" strike="noStrike">
                <a:solidFill>
                  <a:srgbClr val="000000"/>
                </a:solidFill>
                <a:latin typeface="Cambria"/>
              </a:rPr>
              <a:t>Ticket Volume by Month (all years combined)</a:t>
            </a:r>
          </a:p>
        </c:rich>
      </c:tx>
      <c:overlay val="0"/>
    </c:title>
    <c:autoTitleDeleted val="0"/>
    <c:plotArea>
      <c:layout/>
      <c:lineChart>
        <c:grouping val="standard"/>
        <c:varyColors val="0"/>
        <c:ser>
          <c:idx val="0"/>
          <c:order val="0"/>
          <c:tx>
            <c:strRef>
              <c:f>Sheet1!$B$1</c:f>
              <c:strCache>
                <c:ptCount val="1"/>
                <c:pt idx="0">
                  <c:v>Tickets</c:v>
                </c:pt>
              </c:strCache>
            </c:strRef>
          </c:tx>
          <c:spPr>
            <a:ln w="38100" cap="flat">
              <a:solidFill>
                <a:srgbClr val="2E86AB"/>
              </a:solidFill>
              <a:prstDash val="solid"/>
              <a:round/>
            </a:ln>
            <a:effectLst/>
          </c:spPr>
          <c:marker>
            <c:symbol val="circle"/>
            <c:size val="6"/>
            <c:spPr>
              <a:solidFill>
                <a:srgbClr val="2E86AB"/>
              </a:solidFill>
              <a:ln w="9525" cap="flat">
                <a:solidFill>
                  <a:srgbClr val="2E86A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7242</c:v>
                </c:pt>
                <c:pt idx="1">
                  <c:v>7901</c:v>
                </c:pt>
                <c:pt idx="2">
                  <c:v>8228</c:v>
                </c:pt>
                <c:pt idx="3">
                  <c:v>7937</c:v>
                </c:pt>
                <c:pt idx="4">
                  <c:v>8121</c:v>
                </c:pt>
                <c:pt idx="5">
                  <c:v>8141</c:v>
                </c:pt>
                <c:pt idx="6">
                  <c:v>8070</c:v>
                </c:pt>
                <c:pt idx="7">
                  <c:v>8489</c:v>
                </c:pt>
                <c:pt idx="8">
                  <c:v>8219</c:v>
                </c:pt>
                <c:pt idx="9">
                  <c:v>8495</c:v>
                </c:pt>
                <c:pt idx="10">
                  <c:v>8254</c:v>
                </c:pt>
                <c:pt idx="11">
                  <c:v>8401</c:v>
                </c:pt>
              </c:numCache>
            </c:numRef>
          </c:val>
          <c:smooth val="1"/>
          <c:extLst>
            <c:ext xmlns:c16="http://schemas.microsoft.com/office/drawing/2014/chart" uri="{C3380CC4-5D6E-409C-BE32-E72D297353CC}">
              <c16:uniqueId val="{00000000-A02D-4890-B070-B2C155FC51C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8800"/>
          <c:min val="6800"/>
        </c:scaling>
        <c:delete val="0"/>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50" b="0" i="0" u="none" strike="noStrike">
                <a:solidFill>
                  <a:srgbClr val="000000"/>
                </a:solidFill>
                <a:latin typeface="Cambria"/>
              </a:defRPr>
            </a:pPr>
            <a:r>
              <a:rPr sz="1350" b="0" i="0" u="none" strike="noStrike">
                <a:solidFill>
                  <a:srgbClr val="000000"/>
                </a:solidFill>
                <a:latin typeface="Cambria"/>
              </a:rPr>
              <a:t>Average Resolution Time by Category (days)</a:t>
            </a:r>
          </a:p>
        </c:rich>
      </c:tx>
      <c:overlay val="0"/>
    </c:title>
    <c:autoTitleDeleted val="0"/>
    <c:plotArea>
      <c:layout/>
      <c:barChart>
        <c:barDir val="bar"/>
        <c:grouping val="clustered"/>
        <c:varyColors val="0"/>
        <c:ser>
          <c:idx val="0"/>
          <c:order val="0"/>
          <c:tx>
            <c:strRef>
              <c:f>Sheet1!$B$1</c:f>
              <c:strCache>
                <c:ptCount val="1"/>
                <c:pt idx="0">
                  <c:v>Avg Resolution (days)</c:v>
                </c:pt>
              </c:strCache>
            </c:strRef>
          </c:tx>
          <c:spPr>
            <a:solidFill>
              <a:srgbClr val="F4A300"/>
            </a:solidFill>
            <a:effectLst/>
          </c:spPr>
          <c:invertIfNegative val="0"/>
          <c:dLbls>
            <c:numFmt formatCode="0.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Login Access</c:v>
                </c:pt>
                <c:pt idx="1">
                  <c:v>Software</c:v>
                </c:pt>
                <c:pt idx="2">
                  <c:v>System</c:v>
                </c:pt>
                <c:pt idx="3">
                  <c:v>Hardware</c:v>
                </c:pt>
              </c:strCache>
            </c:strRef>
          </c:cat>
          <c:val>
            <c:numRef>
              <c:f>Sheet1!$B$2:$B$5</c:f>
              <c:numCache>
                <c:formatCode>General</c:formatCode>
                <c:ptCount val="4"/>
                <c:pt idx="0">
                  <c:v>0.31</c:v>
                </c:pt>
                <c:pt idx="1">
                  <c:v>5.24</c:v>
                </c:pt>
                <c:pt idx="2">
                  <c:v>6.62</c:v>
                </c:pt>
                <c:pt idx="3">
                  <c:v>7.63</c:v>
                </c:pt>
              </c:numCache>
            </c:numRef>
          </c:val>
          <c:extLst>
            <c:ext xmlns:c16="http://schemas.microsoft.com/office/drawing/2014/chart" uri="{C3380CC4-5D6E-409C-BE32-E72D297353CC}">
              <c16:uniqueId val="{00000000-CF88-4D15-B907-CB1BE5A33F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mbria"/>
              </a:defRPr>
            </a:pPr>
            <a:r>
              <a:rPr sz="1400" b="0" i="0" u="none" strike="noStrike">
                <a:solidFill>
                  <a:srgbClr val="000000"/>
                </a:solidFill>
                <a:latin typeface="Cambria"/>
              </a:rPr>
              <a:t>Total Tickets Logged per Year</a:t>
            </a:r>
          </a:p>
        </c:rich>
      </c:tx>
      <c:overlay val="0"/>
    </c:title>
    <c:autoTitleDeleted val="0"/>
    <c:plotArea>
      <c:layout/>
      <c:barChart>
        <c:barDir val="col"/>
        <c:grouping val="clustered"/>
        <c:varyColors val="0"/>
        <c:ser>
          <c:idx val="0"/>
          <c:order val="0"/>
          <c:tx>
            <c:strRef>
              <c:f>Sheet1!$B$1</c:f>
              <c:strCache>
                <c:ptCount val="1"/>
                <c:pt idx="0">
                  <c:v>Tickets</c:v>
                </c:pt>
              </c:strCache>
            </c:strRef>
          </c:tx>
          <c:spPr>
            <a:solidFill>
              <a:srgbClr val="1B2A4A"/>
            </a:solidFill>
            <a:effectLst/>
          </c:spPr>
          <c:invertIfNegative val="0"/>
          <c:dLbls>
            <c:numFmt formatCode="#,##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2016</c:v>
                </c:pt>
                <c:pt idx="1">
                  <c:v>2017</c:v>
                </c:pt>
                <c:pt idx="2">
                  <c:v>2018</c:v>
                </c:pt>
                <c:pt idx="3">
                  <c:v>2019</c:v>
                </c:pt>
                <c:pt idx="4">
                  <c:v>2020</c:v>
                </c:pt>
              </c:strCache>
            </c:strRef>
          </c:cat>
          <c:val>
            <c:numRef>
              <c:f>Sheet1!$B$2:$B$6</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119F-44FC-B4CA-09DC38BD03D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50" b="0" i="0" u="none" strike="noStrike">
                <a:solidFill>
                  <a:srgbClr val="000000"/>
                </a:solidFill>
                <a:latin typeface="Cambria"/>
              </a:defRPr>
            </a:pPr>
            <a:r>
              <a:rPr sz="1350" b="0" i="0" u="none" strike="noStrike">
                <a:solidFill>
                  <a:srgbClr val="000000"/>
                </a:solidFill>
                <a:latin typeface="Cambria"/>
              </a:rPr>
              <a:t>Average Satisfaction Rate by Age Group</a:t>
            </a:r>
          </a:p>
        </c:rich>
      </c:tx>
      <c:overlay val="0"/>
    </c:title>
    <c:autoTitleDeleted val="0"/>
    <c:plotArea>
      <c:layout/>
      <c:barChart>
        <c:barDir val="bar"/>
        <c:grouping val="clustered"/>
        <c:varyColors val="0"/>
        <c:ser>
          <c:idx val="0"/>
          <c:order val="0"/>
          <c:tx>
            <c:strRef>
              <c:f>Sheet1!$B$1</c:f>
              <c:strCache>
                <c:ptCount val="1"/>
                <c:pt idx="0">
                  <c:v>Avg Satisfaction</c:v>
                </c:pt>
              </c:strCache>
            </c:strRef>
          </c:tx>
          <c:spPr>
            <a:solidFill>
              <a:srgbClr val="2E86AB"/>
            </a:solidFill>
            <a:effectLst/>
          </c:spPr>
          <c:invertIfNegative val="0"/>
          <c:dLbls>
            <c:numFmt formatCode="0.0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20–30</c:v>
                </c:pt>
                <c:pt idx="1">
                  <c:v>31–40</c:v>
                </c:pt>
                <c:pt idx="2">
                  <c:v>41–50</c:v>
                </c:pt>
                <c:pt idx="3">
                  <c:v>51–60</c:v>
                </c:pt>
              </c:strCache>
            </c:strRef>
          </c:cat>
          <c:val>
            <c:numRef>
              <c:f>Sheet1!$B$2:$B$5</c:f>
              <c:numCache>
                <c:formatCode>General</c:formatCode>
                <c:ptCount val="4"/>
                <c:pt idx="0">
                  <c:v>4.2300000000000004</c:v>
                </c:pt>
                <c:pt idx="1">
                  <c:v>4.0999999999999996</c:v>
                </c:pt>
                <c:pt idx="2">
                  <c:v>4.05</c:v>
                </c:pt>
                <c:pt idx="3">
                  <c:v>4.16</c:v>
                </c:pt>
              </c:numCache>
            </c:numRef>
          </c:val>
          <c:extLst>
            <c:ext xmlns:c16="http://schemas.microsoft.com/office/drawing/2014/chart" uri="{C3380CC4-5D6E-409C-BE32-E72D297353CC}">
              <c16:uniqueId val="{00000000-DB4C-4E60-A63F-4DAB523095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4000000000000004"/>
          <c:min val="3.8"/>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Cambria"/>
              </a:defRPr>
            </a:pPr>
            <a:r>
              <a:rPr sz="1200" b="0" i="0" u="none" strike="noStrike">
                <a:solidFill>
                  <a:srgbClr val="000000"/>
                </a:solidFill>
                <a:latin typeface="Cambria"/>
              </a:rPr>
              <a:t>Slowest / Lowest-Satisfaction Agents — Avg. Resolution (days)</a:t>
            </a:r>
          </a:p>
        </c:rich>
      </c:tx>
      <c:overlay val="0"/>
    </c:title>
    <c:autoTitleDeleted val="0"/>
    <c:plotArea>
      <c:layout/>
      <c:barChart>
        <c:barDir val="bar"/>
        <c:grouping val="clustered"/>
        <c:varyColors val="0"/>
        <c:ser>
          <c:idx val="0"/>
          <c:order val="0"/>
          <c:tx>
            <c:strRef>
              <c:f>Sheet1!$B$1</c:f>
              <c:strCache>
                <c:ptCount val="1"/>
                <c:pt idx="0">
                  <c:v>Avg Resolution (days)</c:v>
                </c:pt>
              </c:strCache>
            </c:strRef>
          </c:tx>
          <c:spPr>
            <a:solidFill>
              <a:srgbClr val="C0453A"/>
            </a:solidFill>
            <a:effectLst/>
          </c:spPr>
          <c:invertIfNegative val="0"/>
          <c:dLbls>
            <c:numFmt formatCode="0.0" sourceLinked="0"/>
            <c:spPr>
              <a:noFill/>
              <a:ln>
                <a:noFill/>
              </a:ln>
              <a:effectLst/>
            </c:spPr>
            <c:txPr>
              <a:bodyPr/>
              <a:lstStyle/>
              <a:p>
                <a:pPr>
                  <a:defRPr sz="95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Jesus Contreras</c:v>
                </c:pt>
                <c:pt idx="1">
                  <c:v>Estuardo Ocaño</c:v>
                </c:pt>
                <c:pt idx="2">
                  <c:v>Lorena</c:v>
                </c:pt>
                <c:pt idx="3">
                  <c:v>Nurio Zepeda</c:v>
                </c:pt>
                <c:pt idx="4">
                  <c:v>Ramon Macias</c:v>
                </c:pt>
                <c:pt idx="5">
                  <c:v>Elena Velez</c:v>
                </c:pt>
                <c:pt idx="6">
                  <c:v>Mata Lucero</c:v>
                </c:pt>
                <c:pt idx="7">
                  <c:v>Armando Sierra</c:v>
                </c:pt>
                <c:pt idx="8">
                  <c:v>Griselda Galindo</c:v>
                </c:pt>
                <c:pt idx="9">
                  <c:v>A. Trejo</c:v>
                </c:pt>
              </c:strCache>
            </c:strRef>
          </c:cat>
          <c:val>
            <c:numRef>
              <c:f>Sheet1!$B$2:$B$11</c:f>
              <c:numCache>
                <c:formatCode>General</c:formatCode>
                <c:ptCount val="10"/>
                <c:pt idx="0">
                  <c:v>5.55</c:v>
                </c:pt>
                <c:pt idx="1">
                  <c:v>5.52</c:v>
                </c:pt>
                <c:pt idx="2">
                  <c:v>5.51</c:v>
                </c:pt>
                <c:pt idx="3">
                  <c:v>5.41</c:v>
                </c:pt>
                <c:pt idx="4">
                  <c:v>5.45</c:v>
                </c:pt>
                <c:pt idx="5">
                  <c:v>5.38</c:v>
                </c:pt>
                <c:pt idx="6">
                  <c:v>5.45</c:v>
                </c:pt>
                <c:pt idx="7">
                  <c:v>5.34</c:v>
                </c:pt>
                <c:pt idx="8">
                  <c:v>5.32</c:v>
                </c:pt>
                <c:pt idx="9">
                  <c:v>5.32</c:v>
                </c:pt>
              </c:numCache>
            </c:numRef>
          </c:val>
          <c:extLst>
            <c:ext xmlns:c16="http://schemas.microsoft.com/office/drawing/2014/chart" uri="{C3380CC4-5D6E-409C-BE32-E72D297353CC}">
              <c16:uniqueId val="{00000000-520F-4416-AABB-E754AFB8D34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00000"/>
                </a:solidFill>
                <a:latin typeface="Cambria"/>
              </a:defRPr>
            </a:pPr>
            <a:r>
              <a:rPr sz="1400" b="0" i="0" u="none" strike="noStrike">
                <a:solidFill>
                  <a:srgbClr val="000000"/>
                </a:solidFill>
                <a:latin typeface="Cambria"/>
              </a:rPr>
              <a:t>Average Satisfaction by Severity</a:t>
            </a:r>
          </a:p>
        </c:rich>
      </c:tx>
      <c:overlay val="0"/>
    </c:title>
    <c:autoTitleDeleted val="0"/>
    <c:plotArea>
      <c:layout/>
      <c:barChart>
        <c:barDir val="col"/>
        <c:grouping val="clustered"/>
        <c:varyColors val="0"/>
        <c:ser>
          <c:idx val="0"/>
          <c:order val="0"/>
          <c:tx>
            <c:strRef>
              <c:f>Sheet1!$B$1</c:f>
              <c:strCache>
                <c:ptCount val="1"/>
                <c:pt idx="0">
                  <c:v>Avg Satisfaction</c:v>
                </c:pt>
              </c:strCache>
            </c:strRef>
          </c:tx>
          <c:spPr>
            <a:solidFill>
              <a:srgbClr val="3E9C63"/>
            </a:solidFill>
            <a:effectLst/>
          </c:spPr>
          <c:invertIfNegative val="0"/>
          <c:dLbls>
            <c:numFmt formatCode="0.0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Unclassified</c:v>
                </c:pt>
                <c:pt idx="1">
                  <c:v>Minor</c:v>
                </c:pt>
                <c:pt idx="2">
                  <c:v>Normal</c:v>
                </c:pt>
                <c:pt idx="3">
                  <c:v>Major</c:v>
                </c:pt>
                <c:pt idx="4">
                  <c:v>Urgent</c:v>
                </c:pt>
              </c:strCache>
            </c:strRef>
          </c:cat>
          <c:val>
            <c:numRef>
              <c:f>Sheet1!$B$2:$B$6</c:f>
              <c:numCache>
                <c:formatCode>General</c:formatCode>
                <c:ptCount val="5"/>
                <c:pt idx="0">
                  <c:v>4.17</c:v>
                </c:pt>
                <c:pt idx="1">
                  <c:v>4.07</c:v>
                </c:pt>
                <c:pt idx="2">
                  <c:v>4.0999999999999996</c:v>
                </c:pt>
                <c:pt idx="3">
                  <c:v>4.12</c:v>
                </c:pt>
                <c:pt idx="4">
                  <c:v>4.12</c:v>
                </c:pt>
              </c:numCache>
            </c:numRef>
          </c:val>
          <c:extLst>
            <c:ext xmlns:c16="http://schemas.microsoft.com/office/drawing/2014/chart" uri="{C3380CC4-5D6E-409C-BE32-E72D297353CC}">
              <c16:uniqueId val="{00000000-C392-4792-AA6B-313C3923EC2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3"/>
          <c:min val="3.8"/>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039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21D33"/>
          </a:solidFill>
          <a:ln/>
        </p:spPr>
      </p:sp>
      <p:sp>
        <p:nvSpPr>
          <p:cNvPr id="3" name="Shape 1"/>
          <p:cNvSpPr/>
          <p:nvPr/>
        </p:nvSpPr>
        <p:spPr>
          <a:xfrm>
            <a:off x="10332720" y="4297680"/>
            <a:ext cx="3291840" cy="3291840"/>
          </a:xfrm>
          <a:prstGeom prst="ellipse">
            <a:avLst/>
          </a:prstGeom>
          <a:solidFill>
            <a:srgbClr val="2E86AB"/>
          </a:solidFill>
          <a:ln/>
        </p:spPr>
      </p:sp>
      <p:sp>
        <p:nvSpPr>
          <p:cNvPr id="4" name="Shape 2"/>
          <p:cNvSpPr/>
          <p:nvPr/>
        </p:nvSpPr>
        <p:spPr>
          <a:xfrm>
            <a:off x="10698480" y="4663440"/>
            <a:ext cx="2560320" cy="2560320"/>
          </a:xfrm>
          <a:prstGeom prst="ellipse">
            <a:avLst/>
          </a:prstGeom>
          <a:solidFill>
            <a:srgbClr val="1B2A4A"/>
          </a:solidFill>
          <a:ln/>
        </p:spPr>
      </p:sp>
      <p:sp>
        <p:nvSpPr>
          <p:cNvPr id="5" name="Shape 3"/>
          <p:cNvSpPr/>
          <p:nvPr/>
        </p:nvSpPr>
        <p:spPr>
          <a:xfrm>
            <a:off x="548640" y="2487168"/>
            <a:ext cx="1005840" cy="64008"/>
          </a:xfrm>
          <a:prstGeom prst="rect">
            <a:avLst/>
          </a:prstGeom>
          <a:solidFill>
            <a:srgbClr val="F4A300"/>
          </a:solidFill>
          <a:ln/>
        </p:spPr>
      </p:sp>
      <p:sp>
        <p:nvSpPr>
          <p:cNvPr id="6" name="Text 4"/>
          <p:cNvSpPr/>
          <p:nvPr/>
        </p:nvSpPr>
        <p:spPr>
          <a:xfrm>
            <a:off x="548640" y="2633472"/>
            <a:ext cx="9601200" cy="274320"/>
          </a:xfrm>
          <a:prstGeom prst="rect">
            <a:avLst/>
          </a:prstGeom>
          <a:noFill/>
          <a:ln/>
        </p:spPr>
        <p:txBody>
          <a:bodyPr wrap="square" rtlCol="0" anchor="ctr"/>
          <a:lstStyle/>
          <a:p>
            <a:pPr marL="0" indent="0">
              <a:buNone/>
            </a:pPr>
            <a:r>
              <a:rPr lang="en-US" sz="1400" kern="0" spc="300" dirty="0">
                <a:solidFill>
                  <a:srgbClr val="CFE3EE"/>
                </a:solidFill>
                <a:latin typeface="Calibri" pitchFamily="34" charset="0"/>
                <a:ea typeface="Calibri" pitchFamily="34" charset="-122"/>
                <a:cs typeface="Calibri" pitchFamily="34" charset="-120"/>
              </a:rPr>
              <a:t>IT SUPPORT TICKET ANALYSIS</a:t>
            </a:r>
            <a:endParaRPr lang="en-US" sz="1400" dirty="0"/>
          </a:p>
        </p:txBody>
      </p:sp>
      <p:sp>
        <p:nvSpPr>
          <p:cNvPr id="7" name="Text 5"/>
          <p:cNvSpPr/>
          <p:nvPr/>
        </p:nvSpPr>
        <p:spPr>
          <a:xfrm>
            <a:off x="548640" y="2971800"/>
            <a:ext cx="8961120" cy="1554480"/>
          </a:xfrm>
          <a:prstGeom prst="rect">
            <a:avLst/>
          </a:prstGeom>
          <a:noFill/>
          <a:ln/>
        </p:spPr>
        <p:txBody>
          <a:bodyPr wrap="square" rtlCol="0" anchor="ctr"/>
          <a:lstStyle/>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Two-Year Deep Dive into Help-Desk</a:t>
            </a:r>
            <a:endParaRPr lang="en-US" sz="3800" dirty="0"/>
          </a:p>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Performance &amp; Agent Effectiveness</a:t>
            </a:r>
            <a:endParaRPr lang="en-US" sz="3800" dirty="0"/>
          </a:p>
        </p:txBody>
      </p:sp>
      <p:sp>
        <p:nvSpPr>
          <p:cNvPr id="8" name="Text 6"/>
          <p:cNvSpPr/>
          <p:nvPr/>
        </p:nvSpPr>
        <p:spPr>
          <a:xfrm>
            <a:off x="548640" y="4663440"/>
            <a:ext cx="7315200" cy="365760"/>
          </a:xfrm>
          <a:prstGeom prst="rect">
            <a:avLst/>
          </a:prstGeom>
          <a:noFill/>
          <a:ln/>
        </p:spPr>
        <p:txBody>
          <a:bodyPr wrap="square" rtlCol="0" anchor="ctr"/>
          <a:lstStyle/>
          <a:p>
            <a:pPr marL="0" indent="0">
              <a:buNone/>
            </a:pPr>
            <a:r>
              <a:rPr lang="en-US" sz="1500" dirty="0">
                <a:solidFill>
                  <a:srgbClr val="CFE3EE"/>
                </a:solidFill>
                <a:latin typeface="Calibri" pitchFamily="34" charset="0"/>
                <a:ea typeface="Calibri" pitchFamily="34" charset="-122"/>
                <a:cs typeface="Calibri" pitchFamily="34" charset="-120"/>
              </a:rPr>
              <a:t>Vedang Pandey |  Excel Final Project</a:t>
            </a:r>
            <a:endParaRPr lang="en-US" sz="1500" dirty="0"/>
          </a:p>
        </p:txBody>
      </p:sp>
      <p:sp>
        <p:nvSpPr>
          <p:cNvPr id="9" name="Text 7"/>
          <p:cNvSpPr/>
          <p:nvPr/>
        </p:nvSpPr>
        <p:spPr>
          <a:xfrm>
            <a:off x="548640" y="5029200"/>
            <a:ext cx="7315200" cy="365760"/>
          </a:xfrm>
          <a:prstGeom prst="rect">
            <a:avLst/>
          </a:prstGeom>
          <a:noFill/>
          <a:ln/>
        </p:spPr>
        <p:txBody>
          <a:bodyPr wrap="square" rtlCol="0" anchor="ctr"/>
          <a:lstStyle/>
          <a:p>
            <a:pPr marL="0" indent="0">
              <a:buNone/>
            </a:pPr>
            <a:r>
              <a:rPr lang="en-US" sz="1300" dirty="0">
                <a:solidFill>
                  <a:srgbClr val="8FA3C4"/>
                </a:solidFill>
                <a:latin typeface="Calibri" pitchFamily="34" charset="0"/>
                <a:ea typeface="Calibri" pitchFamily="34" charset="-122"/>
                <a:cs typeface="Calibri" pitchFamily="34" charset="-120"/>
              </a:rPr>
              <a:t>Dataset: 97,498 tickets across 50 agents, 2016 – 2020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Introduction</a:t>
            </a:r>
            <a:endParaRPr lang="en-US" sz="3000" dirty="0"/>
          </a:p>
        </p:txBody>
      </p:sp>
      <p:sp>
        <p:nvSpPr>
          <p:cNvPr id="3" name="Text 1"/>
          <p:cNvSpPr/>
          <p:nvPr/>
        </p:nvSpPr>
        <p:spPr>
          <a:xfrm>
            <a:off x="548640" y="1234440"/>
            <a:ext cx="6309360" cy="1920240"/>
          </a:xfrm>
          <a:prstGeom prst="rect">
            <a:avLst/>
          </a:prstGeom>
          <a:noFill/>
          <a:ln/>
        </p:spPr>
        <p:txBody>
          <a:bodyPr wrap="square" rtlCol="0" anchor="ctr"/>
          <a:lstStyle/>
          <a:p>
            <a:pPr marL="0" indent="0" algn="l">
              <a:lnSpc>
                <a:spcPts val="2200"/>
              </a:lnSpc>
              <a:buNone/>
            </a:pPr>
            <a:r>
              <a:rPr lang="en-US" sz="1400" dirty="0">
                <a:solidFill>
                  <a:srgbClr val="1B2A4A"/>
                </a:solidFill>
                <a:latin typeface="Calibri" pitchFamily="34" charset="0"/>
                <a:ea typeface="Calibri" pitchFamily="34" charset="-122"/>
                <a:cs typeface="Calibri" pitchFamily="34" charset="-120"/>
              </a:rPr>
              <a:t>This project analyzes five years of IT help-desk activity — every ticket logged for login, hardware, software, and system issues — to understand how the support team performs and where it can improve. Raw ticket records and agent profiles were cleaned in Excel, then explored with pivot tables, pivot charts, and an interactive dashboard.</a:t>
            </a:r>
            <a:endParaRPr lang="en-US" sz="1400" dirty="0"/>
          </a:p>
        </p:txBody>
      </p:sp>
      <p:sp>
        <p:nvSpPr>
          <p:cNvPr id="4" name="Text 2"/>
          <p:cNvSpPr/>
          <p:nvPr/>
        </p:nvSpPr>
        <p:spPr>
          <a:xfrm>
            <a:off x="548640" y="3246120"/>
            <a:ext cx="45720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Objectives</a:t>
            </a:r>
            <a:endParaRPr lang="en-US" sz="1600" dirty="0"/>
          </a:p>
        </p:txBody>
      </p:sp>
      <p:sp>
        <p:nvSpPr>
          <p:cNvPr id="5" name="Text 3"/>
          <p:cNvSpPr txBox="1"/>
          <p:nvPr/>
        </p:nvSpPr>
        <p:spPr>
          <a:xfrm>
            <a:off x="548640" y="3611880"/>
            <a:ext cx="6309360" cy="2468880"/>
          </a:xfrm>
          <a:prstGeom prst="rect">
            <a:avLst/>
          </a:prstGeom>
          <a:noFill/>
          <a:ln/>
        </p:spPr>
        <p:txBody>
          <a:bodyPr wrap="square" rtlCol="0" anchor="ctr"/>
          <a:lstStyle/>
          <a:p>
            <a:pPr marL="342900" indent="-342900">
              <a:lnSpc>
                <a:spcPts val="2400"/>
              </a:lnSpc>
              <a:spcAft>
                <a:spcPts val="600"/>
              </a:spcAft>
              <a:buSzPct val="100000"/>
              <a:buChar char="•"/>
            </a:pPr>
            <a:r>
              <a:rPr lang="en-US" sz="1350" dirty="0">
                <a:solidFill>
                  <a:srgbClr val="1B2A4A"/>
                </a:solidFill>
                <a:latin typeface="Calibri" pitchFamily="34" charset="0"/>
                <a:ea typeface="Calibri" pitchFamily="34" charset="-122"/>
                <a:cs typeface="Calibri" pitchFamily="34" charset="-120"/>
              </a:rPr>
              <a:t>Analyze ticket volume, category mix, and severity</a:t>
            </a:r>
            <a:endParaRPr lang="en-US" sz="1350" dirty="0"/>
          </a:p>
          <a:p>
            <a:pPr marL="342900" indent="-342900">
              <a:lnSpc>
                <a:spcPts val="2400"/>
              </a:lnSpc>
              <a:spcAft>
                <a:spcPts val="600"/>
              </a:spcAft>
              <a:buSzPct val="100000"/>
              <a:buChar char="•"/>
            </a:pPr>
            <a:r>
              <a:rPr lang="en-US" sz="1350" dirty="0">
                <a:solidFill>
                  <a:srgbClr val="1B2A4A"/>
                </a:solidFill>
                <a:latin typeface="Calibri" pitchFamily="34" charset="0"/>
                <a:ea typeface="Calibri" pitchFamily="34" charset="-122"/>
                <a:cs typeface="Calibri" pitchFamily="34" charset="-120"/>
              </a:rPr>
              <a:t>Measure resolution time and customer satisfaction</a:t>
            </a:r>
            <a:endParaRPr lang="en-US" sz="1350" dirty="0"/>
          </a:p>
          <a:p>
            <a:pPr marL="342900" indent="-342900">
              <a:lnSpc>
                <a:spcPts val="2400"/>
              </a:lnSpc>
              <a:spcAft>
                <a:spcPts val="600"/>
              </a:spcAft>
              <a:buSzPct val="100000"/>
              <a:buChar char="•"/>
            </a:pPr>
            <a:r>
              <a:rPr lang="en-US" sz="1350" dirty="0">
                <a:solidFill>
                  <a:srgbClr val="1B2A4A"/>
                </a:solidFill>
                <a:latin typeface="Calibri" pitchFamily="34" charset="0"/>
                <a:ea typeface="Calibri" pitchFamily="34" charset="-122"/>
                <a:cs typeface="Calibri" pitchFamily="34" charset="-120"/>
              </a:rPr>
              <a:t>Evaluate individual agent performance and workload</a:t>
            </a:r>
            <a:endParaRPr lang="en-US" sz="1350" dirty="0"/>
          </a:p>
          <a:p>
            <a:pPr marL="342900" indent="-342900">
              <a:lnSpc>
                <a:spcPts val="2400"/>
              </a:lnSpc>
              <a:spcAft>
                <a:spcPts val="600"/>
              </a:spcAft>
              <a:buSzPct val="100000"/>
              <a:buChar char="•"/>
            </a:pPr>
            <a:r>
              <a:rPr lang="en-US" sz="1350" dirty="0">
                <a:solidFill>
                  <a:srgbClr val="1B2A4A"/>
                </a:solidFill>
                <a:latin typeface="Calibri" pitchFamily="34" charset="0"/>
                <a:ea typeface="Calibri" pitchFamily="34" charset="-122"/>
                <a:cs typeface="Calibri" pitchFamily="34" charset="-120"/>
              </a:rPr>
              <a:t>Identify peak periods and long-term ticket trends</a:t>
            </a:r>
            <a:endParaRPr lang="en-US" sz="1350" dirty="0"/>
          </a:p>
          <a:p>
            <a:pPr marL="342900" indent="-342900">
              <a:lnSpc>
                <a:spcPts val="2400"/>
              </a:lnSpc>
              <a:spcAft>
                <a:spcPts val="600"/>
              </a:spcAft>
              <a:buSzPct val="100000"/>
              <a:buChar char="•"/>
            </a:pPr>
            <a:r>
              <a:rPr lang="en-US" sz="1350" dirty="0">
                <a:solidFill>
                  <a:srgbClr val="1B2A4A"/>
                </a:solidFill>
                <a:latin typeface="Calibri" pitchFamily="34" charset="0"/>
                <a:ea typeface="Calibri" pitchFamily="34" charset="-122"/>
                <a:cs typeface="Calibri" pitchFamily="34" charset="-120"/>
              </a:rPr>
              <a:t>Build an interactive Excel dashboard for monitoring</a:t>
            </a:r>
            <a:endParaRPr lang="en-US" sz="1350" dirty="0"/>
          </a:p>
        </p:txBody>
      </p:sp>
      <p:sp>
        <p:nvSpPr>
          <p:cNvPr id="6" name="Shape 4"/>
          <p:cNvSpPr/>
          <p:nvPr/>
        </p:nvSpPr>
        <p:spPr>
          <a:xfrm>
            <a:off x="7315200" y="123444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7" name="Shape 5"/>
          <p:cNvSpPr/>
          <p:nvPr/>
        </p:nvSpPr>
        <p:spPr>
          <a:xfrm>
            <a:off x="7315200" y="1234440"/>
            <a:ext cx="54864" cy="1051560"/>
          </a:xfrm>
          <a:prstGeom prst="rect">
            <a:avLst/>
          </a:prstGeom>
          <a:solidFill>
            <a:srgbClr val="2E86AB"/>
          </a:solidFill>
          <a:ln/>
        </p:spPr>
      </p:sp>
      <p:sp>
        <p:nvSpPr>
          <p:cNvPr id="8" name="Text 6"/>
          <p:cNvSpPr txBox="1"/>
          <p:nvPr/>
        </p:nvSpPr>
        <p:spPr>
          <a:xfrm>
            <a:off x="7452360" y="132588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97,498</a:t>
            </a:r>
            <a:endParaRPr lang="en-US" sz="2200" dirty="0"/>
          </a:p>
        </p:txBody>
      </p:sp>
      <p:sp>
        <p:nvSpPr>
          <p:cNvPr id="9" name="Text 7"/>
          <p:cNvSpPr txBox="1"/>
          <p:nvPr/>
        </p:nvSpPr>
        <p:spPr>
          <a:xfrm>
            <a:off x="7452360" y="188640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Total support tickets logged (2016–2020)</a:t>
            </a:r>
            <a:endParaRPr lang="en-US" sz="1050" dirty="0"/>
          </a:p>
        </p:txBody>
      </p:sp>
      <p:sp>
        <p:nvSpPr>
          <p:cNvPr id="10" name="Shape 8"/>
          <p:cNvSpPr/>
          <p:nvPr/>
        </p:nvSpPr>
        <p:spPr>
          <a:xfrm>
            <a:off x="7315200" y="242316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1" name="Shape 9"/>
          <p:cNvSpPr/>
          <p:nvPr/>
        </p:nvSpPr>
        <p:spPr>
          <a:xfrm>
            <a:off x="7315200" y="2423160"/>
            <a:ext cx="54864" cy="1051560"/>
          </a:xfrm>
          <a:prstGeom prst="rect">
            <a:avLst/>
          </a:prstGeom>
          <a:solidFill>
            <a:srgbClr val="F4A300"/>
          </a:solidFill>
          <a:ln/>
        </p:spPr>
      </p:sp>
      <p:sp>
        <p:nvSpPr>
          <p:cNvPr id="12" name="Text 10"/>
          <p:cNvSpPr txBox="1"/>
          <p:nvPr/>
        </p:nvSpPr>
        <p:spPr>
          <a:xfrm>
            <a:off x="7452360" y="251460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50</a:t>
            </a:r>
            <a:endParaRPr lang="en-US" sz="2200" dirty="0"/>
          </a:p>
        </p:txBody>
      </p:sp>
      <p:sp>
        <p:nvSpPr>
          <p:cNvPr id="13" name="Text 11"/>
          <p:cNvSpPr txBox="1"/>
          <p:nvPr/>
        </p:nvSpPr>
        <p:spPr>
          <a:xfrm>
            <a:off x="7452360" y="307512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IT agents handling requests, avg. age 41</a:t>
            </a:r>
            <a:endParaRPr lang="en-US" sz="1050" dirty="0"/>
          </a:p>
        </p:txBody>
      </p:sp>
      <p:sp>
        <p:nvSpPr>
          <p:cNvPr id="14" name="Shape 12"/>
          <p:cNvSpPr/>
          <p:nvPr/>
        </p:nvSpPr>
        <p:spPr>
          <a:xfrm>
            <a:off x="7315200" y="361188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5" name="Shape 13"/>
          <p:cNvSpPr/>
          <p:nvPr/>
        </p:nvSpPr>
        <p:spPr>
          <a:xfrm>
            <a:off x="7315200" y="3611880"/>
            <a:ext cx="54864" cy="1051560"/>
          </a:xfrm>
          <a:prstGeom prst="rect">
            <a:avLst/>
          </a:prstGeom>
          <a:solidFill>
            <a:srgbClr val="1B2A4A"/>
          </a:solidFill>
          <a:ln/>
        </p:spPr>
      </p:sp>
      <p:sp>
        <p:nvSpPr>
          <p:cNvPr id="16" name="Text 14"/>
          <p:cNvSpPr txBox="1"/>
          <p:nvPr/>
        </p:nvSpPr>
        <p:spPr>
          <a:xfrm>
            <a:off x="7452360" y="370332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7452360" y="426384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Ticket categories: Login, Hardware, Software, System</a:t>
            </a:r>
            <a:endParaRPr lang="en-US" sz="1050" dirty="0"/>
          </a:p>
        </p:txBody>
      </p:sp>
      <p:sp>
        <p:nvSpPr>
          <p:cNvPr id="18" name="Shape 16"/>
          <p:cNvSpPr/>
          <p:nvPr/>
        </p:nvSpPr>
        <p:spPr>
          <a:xfrm>
            <a:off x="7315200" y="480060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9" name="Shape 17"/>
          <p:cNvSpPr/>
          <p:nvPr/>
        </p:nvSpPr>
        <p:spPr>
          <a:xfrm>
            <a:off x="7315200" y="4800600"/>
            <a:ext cx="54864" cy="1051560"/>
          </a:xfrm>
          <a:prstGeom prst="rect">
            <a:avLst/>
          </a:prstGeom>
          <a:solidFill>
            <a:srgbClr val="3E9C63"/>
          </a:solidFill>
          <a:ln/>
        </p:spPr>
      </p:sp>
      <p:sp>
        <p:nvSpPr>
          <p:cNvPr id="20" name="Text 18"/>
          <p:cNvSpPr txBox="1"/>
          <p:nvPr/>
        </p:nvSpPr>
        <p:spPr>
          <a:xfrm>
            <a:off x="7452360" y="489204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4.10 / 5</a:t>
            </a:r>
            <a:endParaRPr lang="en-US" sz="2200" dirty="0"/>
          </a:p>
        </p:txBody>
      </p:sp>
      <p:sp>
        <p:nvSpPr>
          <p:cNvPr id="21" name="Text 19"/>
          <p:cNvSpPr txBox="1"/>
          <p:nvPr/>
        </p:nvSpPr>
        <p:spPr>
          <a:xfrm>
            <a:off x="7452360" y="545256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Average customer satisfaction rating</a:t>
            </a:r>
            <a:endParaRPr lang="en-US" sz="1050" dirty="0"/>
          </a:p>
        </p:txBody>
      </p:sp>
      <p:sp>
        <p:nvSpPr>
          <p:cNvPr id="22" name="Text 20"/>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23" name="Text 21"/>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548640" y="1325880"/>
            <a:ext cx="6492240" cy="2377440"/>
          </a:xfrm>
          <a:prstGeom prst="rect">
            <a:avLst/>
          </a:prstGeom>
          <a:noFill/>
          <a:ln/>
        </p:spPr>
        <p:txBody>
          <a:bodyPr wrap="square" rtlCol="0" anchor="ctr"/>
          <a:lstStyle/>
          <a:p>
            <a:pPr marL="0" indent="0">
              <a:lnSpc>
                <a:spcPts val="2400"/>
              </a:lnSpc>
              <a:buNone/>
            </a:pPr>
            <a:r>
              <a:rPr lang="en-US" sz="1500" dirty="0">
                <a:solidFill>
                  <a:srgbClr val="1B2A4A"/>
                </a:solidFill>
                <a:latin typeface="Calibri" pitchFamily="34" charset="0"/>
                <a:ea typeface="Calibri" pitchFamily="34" charset="-122"/>
                <a:cs typeface="Calibri" pitchFamily="34" charset="-120"/>
              </a:rPr>
              <a:t>The help desk logs tens of thousands of tickets a year, but that volume makes it hard to see, by eye, which categories take longest to resolve, which agents are overloaded or underperforming, and whether service quality is improving as the company grows. Without a structured analysis, staffing and training decisions are made on instinct rather than evidence.</a:t>
            </a:r>
            <a:endParaRPr lang="en-US" sz="1500" dirty="0"/>
          </a:p>
        </p:txBody>
      </p:sp>
      <p:sp>
        <p:nvSpPr>
          <p:cNvPr id="4" name="Text 2"/>
          <p:cNvSpPr/>
          <p:nvPr/>
        </p:nvSpPr>
        <p:spPr>
          <a:xfrm>
            <a:off x="548640" y="3931920"/>
            <a:ext cx="6492240" cy="1005840"/>
          </a:xfrm>
          <a:prstGeom prst="rect">
            <a:avLst/>
          </a:prstGeom>
          <a:noFill/>
          <a:ln/>
        </p:spPr>
        <p:txBody>
          <a:bodyPr wrap="square" rtlCol="0" anchor="ctr"/>
          <a:lstStyle/>
          <a:p>
            <a:pPr marL="0" indent="0">
              <a:lnSpc>
                <a:spcPts val="2200"/>
              </a:lnSpc>
              <a:buNone/>
            </a:pPr>
            <a:r>
              <a:rPr lang="en-US" sz="1400" i="1" dirty="0">
                <a:solidFill>
                  <a:srgbClr val="2E86AB"/>
                </a:solidFill>
                <a:latin typeface="Calibri" pitchFamily="34" charset="0"/>
                <a:ea typeface="Calibri" pitchFamily="34" charset="-122"/>
                <a:cs typeface="Calibri" pitchFamily="34" charset="-120"/>
              </a:rPr>
              <a:t>This project turns raw ticket logs into clear, quantified answers — so operational and staffing decisions can be based on the data rather than assumption.</a:t>
            </a:r>
            <a:endParaRPr lang="en-US" sz="1400" dirty="0"/>
          </a:p>
        </p:txBody>
      </p:sp>
      <p:sp>
        <p:nvSpPr>
          <p:cNvPr id="5" name="Shape 3"/>
          <p:cNvSpPr/>
          <p:nvPr/>
        </p:nvSpPr>
        <p:spPr>
          <a:xfrm>
            <a:off x="7406640" y="1280160"/>
            <a:ext cx="4206240" cy="4206240"/>
          </a:xfrm>
          <a:prstGeom prst="roundRect">
            <a:avLst>
              <a:gd name="adj" fmla="val 2174"/>
            </a:avLst>
          </a:prstGeom>
          <a:solidFill>
            <a:srgbClr val="1B2A4A"/>
          </a:solidFill>
          <a:ln/>
        </p:spPr>
      </p:sp>
      <p:sp>
        <p:nvSpPr>
          <p:cNvPr id="6" name="Text 4"/>
          <p:cNvSpPr/>
          <p:nvPr/>
        </p:nvSpPr>
        <p:spPr>
          <a:xfrm>
            <a:off x="7680960" y="1600200"/>
            <a:ext cx="3657600" cy="365760"/>
          </a:xfrm>
          <a:prstGeom prst="rect">
            <a:avLst/>
          </a:prstGeom>
          <a:noFill/>
          <a:ln/>
        </p:spPr>
        <p:txBody>
          <a:bodyPr wrap="square" rtlCol="0" anchor="ctr"/>
          <a:lstStyle/>
          <a:p>
            <a:pPr marL="0" indent="0">
              <a:buNone/>
            </a:pPr>
            <a:r>
              <a:rPr lang="en-US" sz="1300" kern="0" spc="200" dirty="0">
                <a:solidFill>
                  <a:srgbClr val="CFE3EE"/>
                </a:solidFill>
                <a:latin typeface="Calibri" pitchFamily="34" charset="0"/>
                <a:ea typeface="Calibri" pitchFamily="34" charset="-122"/>
                <a:cs typeface="Calibri" pitchFamily="34" charset="-120"/>
              </a:rPr>
              <a:t>Rising Demand</a:t>
            </a:r>
            <a:endParaRPr lang="en-US" sz="1300" dirty="0"/>
          </a:p>
        </p:txBody>
      </p:sp>
      <p:sp>
        <p:nvSpPr>
          <p:cNvPr id="7" name="Text 5"/>
          <p:cNvSpPr/>
          <p:nvPr/>
        </p:nvSpPr>
        <p:spPr>
          <a:xfrm>
            <a:off x="7680960" y="1965960"/>
            <a:ext cx="3657600" cy="100584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+122%</a:t>
            </a:r>
            <a:endParaRPr lang="en-US" sz="5000" dirty="0"/>
          </a:p>
        </p:txBody>
      </p:sp>
      <p:sp>
        <p:nvSpPr>
          <p:cNvPr id="8" name="Text 6"/>
          <p:cNvSpPr/>
          <p:nvPr/>
        </p:nvSpPr>
        <p:spPr>
          <a:xfrm>
            <a:off x="7680960" y="2971800"/>
            <a:ext cx="3657600" cy="914400"/>
          </a:xfrm>
          <a:prstGeom prst="rect">
            <a:avLst/>
          </a:prstGeom>
          <a:noFill/>
          <a:ln/>
        </p:spPr>
        <p:txBody>
          <a:bodyPr wrap="square" rtlCol="0" anchor="ctr"/>
          <a:lstStyle/>
          <a:p>
            <a:pPr marL="0" indent="0">
              <a:lnSpc>
                <a:spcPts val="1700"/>
              </a:lnSpc>
              <a:buNone/>
            </a:pPr>
            <a:r>
              <a:rPr lang="en-US" sz="1250" dirty="0">
                <a:solidFill>
                  <a:srgbClr val="CFE3EE"/>
                </a:solidFill>
                <a:latin typeface="Calibri" pitchFamily="34" charset="0"/>
                <a:ea typeface="Calibri" pitchFamily="34" charset="-122"/>
                <a:cs typeface="Calibri" pitchFamily="34" charset="-120"/>
              </a:rPr>
              <a:t>growth in ticket volume from 2016 (13,051) to 2020 (29,088)</a:t>
            </a:r>
            <a:endParaRPr lang="en-US" sz="1250" dirty="0"/>
          </a:p>
        </p:txBody>
      </p:sp>
      <p:sp>
        <p:nvSpPr>
          <p:cNvPr id="9" name="Shape 7"/>
          <p:cNvSpPr/>
          <p:nvPr/>
        </p:nvSpPr>
        <p:spPr>
          <a:xfrm>
            <a:off x="7680960" y="4023360"/>
            <a:ext cx="3429000" cy="0"/>
          </a:xfrm>
          <a:prstGeom prst="line">
            <a:avLst/>
          </a:prstGeom>
          <a:noFill/>
          <a:ln w="12700">
            <a:solidFill>
              <a:srgbClr val="3E5473"/>
            </a:solidFill>
            <a:prstDash val="solid"/>
          </a:ln>
        </p:spPr>
      </p:sp>
      <p:sp>
        <p:nvSpPr>
          <p:cNvPr id="10" name="Text 8"/>
          <p:cNvSpPr/>
          <p:nvPr/>
        </p:nvSpPr>
        <p:spPr>
          <a:xfrm>
            <a:off x="7680960" y="4160520"/>
            <a:ext cx="1645920" cy="640080"/>
          </a:xfrm>
          <a:prstGeom prst="rect">
            <a:avLst/>
          </a:prstGeom>
          <a:noFill/>
          <a:ln/>
        </p:spPr>
        <p:txBody>
          <a:bodyPr wrap="square" rtlCol="0" anchor="ctr"/>
          <a:lstStyle/>
          <a:p>
            <a:pPr marL="0" indent="0">
              <a:buNone/>
            </a:pPr>
            <a:r>
              <a:rPr lang="en-US" sz="2400" b="1" dirty="0">
                <a:solidFill>
                  <a:srgbClr val="F4A300"/>
                </a:solidFill>
                <a:latin typeface="Cambria" pitchFamily="34" charset="0"/>
                <a:ea typeface="Cambria" pitchFamily="34" charset="-122"/>
                <a:cs typeface="Cambria" pitchFamily="34" charset="-120"/>
              </a:rPr>
              <a:t>22.2%</a:t>
            </a:r>
            <a:endParaRPr lang="en-US" sz="2400" dirty="0"/>
          </a:p>
        </p:txBody>
      </p:sp>
      <p:sp>
        <p:nvSpPr>
          <p:cNvPr id="11" name="Text 9"/>
          <p:cNvSpPr/>
          <p:nvPr/>
        </p:nvSpPr>
        <p:spPr>
          <a:xfrm>
            <a:off x="7680960" y="4754880"/>
            <a:ext cx="3566160" cy="548640"/>
          </a:xfrm>
          <a:prstGeom prst="rect">
            <a:avLst/>
          </a:prstGeom>
          <a:noFill/>
          <a:ln/>
        </p:spPr>
        <p:txBody>
          <a:bodyPr wrap="square" rtlCol="0" anchor="ctr"/>
          <a:lstStyle/>
          <a:p>
            <a:pPr marL="0" indent="0">
              <a:buNone/>
            </a:pPr>
            <a:r>
              <a:rPr lang="en-US" sz="1150" dirty="0">
                <a:solidFill>
                  <a:srgbClr val="CFE3EE"/>
                </a:solidFill>
                <a:latin typeface="Calibri" pitchFamily="34" charset="0"/>
                <a:ea typeface="Calibri" pitchFamily="34" charset="-122"/>
                <a:cs typeface="Calibri" pitchFamily="34" charset="-120"/>
              </a:rPr>
              <a:t>CAGR, 2016 → 2020</a:t>
            </a:r>
            <a:endParaRPr lang="en-US" sz="1150" dirty="0"/>
          </a:p>
        </p:txBody>
      </p:sp>
      <p:sp>
        <p:nvSpPr>
          <p:cNvPr id="12" name="Text 10"/>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3" name="Text 11"/>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Dataset Summary</a:t>
            </a:r>
            <a:endParaRPr lang="en-US" sz="3000" dirty="0"/>
          </a:p>
        </p:txBody>
      </p:sp>
      <p:sp>
        <p:nvSpPr>
          <p:cNvPr id="3" name="Text 1"/>
          <p:cNvSpPr/>
          <p:nvPr/>
        </p:nvSpPr>
        <p:spPr>
          <a:xfrm>
            <a:off x="548640" y="1234440"/>
            <a:ext cx="5486400" cy="32004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Raw fields (Tickets sheet, 97,498 rows)</a:t>
            </a:r>
            <a:endParaRPr lang="en-US" sz="1500" dirty="0"/>
          </a:p>
        </p:txBody>
      </p:sp>
      <p:sp>
        <p:nvSpPr>
          <p:cNvPr id="4" name="Text 2"/>
          <p:cNvSpPr/>
          <p:nvPr/>
        </p:nvSpPr>
        <p:spPr>
          <a:xfrm>
            <a:off x="548640" y="1600200"/>
            <a:ext cx="1965960" cy="1371600"/>
          </a:xfrm>
          <a:prstGeom prst="rect">
            <a:avLst/>
          </a:prstGeom>
          <a:noFill/>
          <a:ln/>
        </p:spPr>
        <p:txBody>
          <a:bodyPr wrap="square" rtlCol="0" anchor="ctr"/>
          <a:lstStyle/>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ID Ticket</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Fecha (date)</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Employee ID</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Agent ID</a:t>
            </a:r>
            <a:endParaRPr lang="en-US" sz="1150" dirty="0"/>
          </a:p>
        </p:txBody>
      </p:sp>
      <p:sp>
        <p:nvSpPr>
          <p:cNvPr id="5" name="Text 3"/>
          <p:cNvSpPr/>
          <p:nvPr/>
        </p:nvSpPr>
        <p:spPr>
          <a:xfrm>
            <a:off x="2606040" y="1600200"/>
            <a:ext cx="1965960" cy="1371600"/>
          </a:xfrm>
          <a:prstGeom prst="rect">
            <a:avLst/>
          </a:prstGeom>
          <a:noFill/>
          <a:ln/>
        </p:spPr>
        <p:txBody>
          <a:bodyPr wrap="square" rtlCol="0" anchor="ctr"/>
          <a:lstStyle/>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Request Category</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Issue Type</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Severity</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Priority</a:t>
            </a:r>
            <a:endParaRPr lang="en-US" sz="1150" dirty="0"/>
          </a:p>
        </p:txBody>
      </p:sp>
      <p:sp>
        <p:nvSpPr>
          <p:cNvPr id="6" name="Text 4"/>
          <p:cNvSpPr/>
          <p:nvPr/>
        </p:nvSpPr>
        <p:spPr>
          <a:xfrm>
            <a:off x="4663440" y="1600200"/>
            <a:ext cx="1965960" cy="1371600"/>
          </a:xfrm>
          <a:prstGeom prst="rect">
            <a:avLst/>
          </a:prstGeom>
          <a:noFill/>
          <a:ln/>
        </p:spPr>
        <p:txBody>
          <a:bodyPr wrap="square" rtlCol="0" anchor="ctr"/>
          <a:lstStyle/>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Resolution Time (days)</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Satisfaction Rate</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Agent Name</a:t>
            </a:r>
            <a:endParaRPr lang="en-US" sz="1150" dirty="0"/>
          </a:p>
          <a:p>
            <a:pPr marL="342900" indent="-342900">
              <a:lnSpc>
                <a:spcPts val="1900"/>
              </a:lnSpc>
              <a:buSzPct val="100000"/>
              <a:buChar char="•"/>
            </a:pPr>
            <a:r>
              <a:rPr lang="en-US" sz="1150" dirty="0">
                <a:solidFill>
                  <a:srgbClr val="1B2A4A"/>
                </a:solidFill>
                <a:latin typeface="Calibri" pitchFamily="34" charset="0"/>
                <a:ea typeface="Calibri" pitchFamily="34" charset="-122"/>
                <a:cs typeface="Calibri" pitchFamily="34" charset="-120"/>
              </a:rPr>
              <a:t>...</a:t>
            </a:r>
            <a:endParaRPr lang="en-US" sz="1150" dirty="0"/>
          </a:p>
        </p:txBody>
      </p:sp>
      <p:sp>
        <p:nvSpPr>
          <p:cNvPr id="7" name="Shape 5"/>
          <p:cNvSpPr/>
          <p:nvPr/>
        </p:nvSpPr>
        <p:spPr>
          <a:xfrm>
            <a:off x="548640" y="3108960"/>
            <a:ext cx="6309360" cy="0"/>
          </a:xfrm>
          <a:prstGeom prst="line">
            <a:avLst/>
          </a:prstGeom>
          <a:noFill/>
          <a:ln w="12700">
            <a:solidFill>
              <a:srgbClr val="D6DEE8"/>
            </a:solidFill>
            <a:prstDash val="solid"/>
          </a:ln>
        </p:spPr>
      </p:sp>
      <p:sp>
        <p:nvSpPr>
          <p:cNvPr id="8" name="Text 6"/>
          <p:cNvSpPr/>
          <p:nvPr/>
        </p:nvSpPr>
        <p:spPr>
          <a:xfrm>
            <a:off x="548640" y="3246120"/>
            <a:ext cx="5486400" cy="32004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Cleaning &amp; preparation</a:t>
            </a:r>
            <a:endParaRPr lang="en-US" sz="1500" dirty="0"/>
          </a:p>
        </p:txBody>
      </p:sp>
      <p:sp>
        <p:nvSpPr>
          <p:cNvPr id="9" name="Text 7"/>
          <p:cNvSpPr/>
          <p:nvPr/>
        </p:nvSpPr>
        <p:spPr>
          <a:xfrm>
            <a:off x="548640" y="3611880"/>
            <a:ext cx="6309360" cy="1554480"/>
          </a:xfrm>
          <a:prstGeom prst="rect">
            <a:avLst/>
          </a:prstGeom>
          <a:noFill/>
          <a:ln/>
        </p:spPr>
        <p:txBody>
          <a:bodyPr wrap="square" rtlCol="0" anchor="ctr"/>
          <a:lstStyle/>
          <a:p>
            <a:pPr marL="342900" indent="-342900">
              <a:lnSpc>
                <a:spcPts val="2200"/>
              </a:lnSpc>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Removed duplicate ticket records</a:t>
            </a:r>
            <a:endParaRPr lang="en-US" sz="1300" dirty="0"/>
          </a:p>
          <a:p>
            <a:pPr marL="342900" indent="-342900">
              <a:lnSpc>
                <a:spcPts val="2200"/>
              </a:lnSpc>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Handled missing / unassigned values</a:t>
            </a:r>
            <a:endParaRPr lang="en-US" sz="1300" dirty="0"/>
          </a:p>
          <a:p>
            <a:pPr marL="342900" indent="-342900">
              <a:lnSpc>
                <a:spcPts val="2200"/>
              </a:lnSpc>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Standardized date and time formats</a:t>
            </a:r>
            <a:endParaRPr lang="en-US" sz="1300" dirty="0"/>
          </a:p>
          <a:p>
            <a:pPr marL="342900" indent="-342900">
              <a:lnSpc>
                <a:spcPts val="2200"/>
              </a:lnSpc>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Added helper columns: Severity Score, Year, Agent Age, Age Bracket</a:t>
            </a:r>
            <a:endParaRPr lang="en-US" sz="1300" dirty="0"/>
          </a:p>
        </p:txBody>
      </p:sp>
      <p:sp>
        <p:nvSpPr>
          <p:cNvPr id="10" name="Shape 8"/>
          <p:cNvSpPr/>
          <p:nvPr/>
        </p:nvSpPr>
        <p:spPr>
          <a:xfrm>
            <a:off x="7315200" y="123444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1" name="Shape 9"/>
          <p:cNvSpPr/>
          <p:nvPr/>
        </p:nvSpPr>
        <p:spPr>
          <a:xfrm>
            <a:off x="7315200" y="1234440"/>
            <a:ext cx="54864" cy="1051560"/>
          </a:xfrm>
          <a:prstGeom prst="rect">
            <a:avLst/>
          </a:prstGeom>
          <a:solidFill>
            <a:srgbClr val="2E86AB"/>
          </a:solidFill>
          <a:ln/>
        </p:spPr>
      </p:sp>
      <p:sp>
        <p:nvSpPr>
          <p:cNvPr id="12" name="Text 10"/>
          <p:cNvSpPr txBox="1"/>
          <p:nvPr/>
        </p:nvSpPr>
        <p:spPr>
          <a:xfrm>
            <a:off x="7452360" y="132588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97,498</a:t>
            </a:r>
            <a:endParaRPr lang="en-US" sz="2200" dirty="0"/>
          </a:p>
        </p:txBody>
      </p:sp>
      <p:sp>
        <p:nvSpPr>
          <p:cNvPr id="13" name="Text 11"/>
          <p:cNvSpPr txBox="1"/>
          <p:nvPr/>
        </p:nvSpPr>
        <p:spPr>
          <a:xfrm>
            <a:off x="7452360" y="188640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Cleaned ticket records, Dec 2015 – Dec 2020</a:t>
            </a:r>
            <a:endParaRPr lang="en-US" sz="1050" dirty="0"/>
          </a:p>
        </p:txBody>
      </p:sp>
      <p:sp>
        <p:nvSpPr>
          <p:cNvPr id="14" name="Shape 12"/>
          <p:cNvSpPr/>
          <p:nvPr/>
        </p:nvSpPr>
        <p:spPr>
          <a:xfrm>
            <a:off x="7315200" y="242316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5" name="Shape 13"/>
          <p:cNvSpPr/>
          <p:nvPr/>
        </p:nvSpPr>
        <p:spPr>
          <a:xfrm>
            <a:off x="7315200" y="2423160"/>
            <a:ext cx="54864" cy="1051560"/>
          </a:xfrm>
          <a:prstGeom prst="rect">
            <a:avLst/>
          </a:prstGeom>
          <a:solidFill>
            <a:srgbClr val="F4A300"/>
          </a:solidFill>
          <a:ln/>
        </p:spPr>
      </p:sp>
      <p:sp>
        <p:nvSpPr>
          <p:cNvPr id="16" name="Text 14"/>
          <p:cNvSpPr txBox="1"/>
          <p:nvPr/>
        </p:nvSpPr>
        <p:spPr>
          <a:xfrm>
            <a:off x="7452360" y="251460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24</a:t>
            </a:r>
            <a:endParaRPr lang="en-US" sz="2200" dirty="0"/>
          </a:p>
        </p:txBody>
      </p:sp>
      <p:sp>
        <p:nvSpPr>
          <p:cNvPr id="17" name="Text 15"/>
          <p:cNvSpPr txBox="1"/>
          <p:nvPr/>
        </p:nvSpPr>
        <p:spPr>
          <a:xfrm>
            <a:off x="7452360" y="307512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Columns after cleaning (11 raw + 13 derived)</a:t>
            </a:r>
            <a:endParaRPr lang="en-US" sz="1050" dirty="0"/>
          </a:p>
        </p:txBody>
      </p:sp>
      <p:sp>
        <p:nvSpPr>
          <p:cNvPr id="18" name="Shape 16"/>
          <p:cNvSpPr/>
          <p:nvPr/>
        </p:nvSpPr>
        <p:spPr>
          <a:xfrm>
            <a:off x="7315200" y="361188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9" name="Shape 17"/>
          <p:cNvSpPr/>
          <p:nvPr/>
        </p:nvSpPr>
        <p:spPr>
          <a:xfrm>
            <a:off x="7315200" y="3611880"/>
            <a:ext cx="54864" cy="1051560"/>
          </a:xfrm>
          <a:prstGeom prst="rect">
            <a:avLst/>
          </a:prstGeom>
          <a:solidFill>
            <a:srgbClr val="1B2A4A"/>
          </a:solidFill>
          <a:ln/>
        </p:spPr>
      </p:sp>
      <p:sp>
        <p:nvSpPr>
          <p:cNvPr id="20" name="Text 18"/>
          <p:cNvSpPr txBox="1"/>
          <p:nvPr/>
        </p:nvSpPr>
        <p:spPr>
          <a:xfrm>
            <a:off x="7452360" y="370332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50</a:t>
            </a:r>
            <a:endParaRPr lang="en-US" sz="2200" dirty="0"/>
          </a:p>
        </p:txBody>
      </p:sp>
      <p:sp>
        <p:nvSpPr>
          <p:cNvPr id="21" name="Text 19"/>
          <p:cNvSpPr txBox="1"/>
          <p:nvPr/>
        </p:nvSpPr>
        <p:spPr>
          <a:xfrm>
            <a:off x="7452360" y="426384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Agents profiled (name, email, age)</a:t>
            </a:r>
            <a:endParaRPr lang="en-US" sz="1050" dirty="0"/>
          </a:p>
        </p:txBody>
      </p:sp>
      <p:sp>
        <p:nvSpPr>
          <p:cNvPr id="22" name="Shape 20"/>
          <p:cNvSpPr/>
          <p:nvPr/>
        </p:nvSpPr>
        <p:spPr>
          <a:xfrm>
            <a:off x="7315200" y="4800600"/>
            <a:ext cx="4297680" cy="1051560"/>
          </a:xfrm>
          <a:prstGeom prst="roundRect">
            <a:avLst>
              <a:gd name="adj" fmla="val 6957"/>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23" name="Shape 21"/>
          <p:cNvSpPr/>
          <p:nvPr/>
        </p:nvSpPr>
        <p:spPr>
          <a:xfrm>
            <a:off x="7315200" y="4800600"/>
            <a:ext cx="54864" cy="1051560"/>
          </a:xfrm>
          <a:prstGeom prst="rect">
            <a:avLst/>
          </a:prstGeom>
          <a:solidFill>
            <a:srgbClr val="3E9C63"/>
          </a:solidFill>
          <a:ln/>
        </p:spPr>
      </p:sp>
      <p:sp>
        <p:nvSpPr>
          <p:cNvPr id="24" name="Text 22"/>
          <p:cNvSpPr txBox="1"/>
          <p:nvPr/>
        </p:nvSpPr>
        <p:spPr>
          <a:xfrm>
            <a:off x="7452360" y="4892040"/>
            <a:ext cx="4023360" cy="578358"/>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5 yrs</a:t>
            </a:r>
            <a:endParaRPr lang="en-US" sz="2200" dirty="0"/>
          </a:p>
        </p:txBody>
      </p:sp>
      <p:sp>
        <p:nvSpPr>
          <p:cNvPr id="25" name="Text 23"/>
          <p:cNvSpPr txBox="1"/>
          <p:nvPr/>
        </p:nvSpPr>
        <p:spPr>
          <a:xfrm>
            <a:off x="7452360" y="5452567"/>
            <a:ext cx="4023360" cy="368046"/>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Continuous daily ticket history analyzed</a:t>
            </a:r>
            <a:endParaRPr lang="en-US" sz="1050" dirty="0"/>
          </a:p>
        </p:txBody>
      </p:sp>
      <p:sp>
        <p:nvSpPr>
          <p:cNvPr id="26" name="Text 24"/>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27" name="Text 25"/>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Analytical Methods</a:t>
            </a:r>
            <a:endParaRPr lang="en-US" sz="3000" dirty="0"/>
          </a:p>
        </p:txBody>
      </p:sp>
      <p:sp>
        <p:nvSpPr>
          <p:cNvPr id="3" name="Shape 1"/>
          <p:cNvSpPr/>
          <p:nvPr/>
        </p:nvSpPr>
        <p:spPr>
          <a:xfrm>
            <a:off x="548640" y="1417320"/>
            <a:ext cx="2331720" cy="1188720"/>
          </a:xfrm>
          <a:prstGeom prst="roundRect">
            <a:avLst>
              <a:gd name="adj" fmla="val 6923"/>
            </a:avLst>
          </a:prstGeom>
          <a:solidFill>
            <a:srgbClr val="FFFFFF"/>
          </a:solidFill>
          <a:ln w="19050">
            <a:solidFill>
              <a:srgbClr val="1B2A4A"/>
            </a:solidFill>
            <a:prstDash val="solid"/>
          </a:ln>
        </p:spPr>
      </p:sp>
      <p:sp>
        <p:nvSpPr>
          <p:cNvPr id="4" name="Shape 2"/>
          <p:cNvSpPr/>
          <p:nvPr/>
        </p:nvSpPr>
        <p:spPr>
          <a:xfrm>
            <a:off x="685800" y="1554480"/>
            <a:ext cx="320040" cy="320040"/>
          </a:xfrm>
          <a:prstGeom prst="ellipse">
            <a:avLst/>
          </a:prstGeom>
          <a:solidFill>
            <a:srgbClr val="1B2A4A"/>
          </a:solidFill>
          <a:ln/>
        </p:spPr>
      </p:sp>
      <p:sp>
        <p:nvSpPr>
          <p:cNvPr id="5" name="Text 3"/>
          <p:cNvSpPr/>
          <p:nvPr/>
        </p:nvSpPr>
        <p:spPr>
          <a:xfrm>
            <a:off x="685800" y="15544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685800" y="1947672"/>
            <a:ext cx="2057400" cy="594360"/>
          </a:xfrm>
          <a:prstGeom prst="rect">
            <a:avLst/>
          </a:prstGeom>
          <a:noFill/>
          <a:ln/>
        </p:spPr>
        <p:txBody>
          <a:bodyPr wrap="square" lIns="0" tIns="0" rIns="0" bIns="0" rtlCol="0" anchor="ctr"/>
          <a:lstStyle/>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Raw Data</a:t>
            </a:r>
            <a:endParaRPr lang="en-US" sz="1350" dirty="0"/>
          </a:p>
        </p:txBody>
      </p:sp>
      <p:sp>
        <p:nvSpPr>
          <p:cNvPr id="7" name="Text 5"/>
          <p:cNvSpPr/>
          <p:nvPr/>
        </p:nvSpPr>
        <p:spPr>
          <a:xfrm>
            <a:off x="2880360" y="1417320"/>
            <a:ext cx="320040" cy="1188720"/>
          </a:xfrm>
          <a:prstGeom prst="rect">
            <a:avLst/>
          </a:prstGeom>
          <a:noFill/>
          <a:ln/>
        </p:spPr>
        <p:txBody>
          <a:bodyPr wrap="square"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200400" y="1417320"/>
            <a:ext cx="2331720" cy="1188720"/>
          </a:xfrm>
          <a:prstGeom prst="roundRect">
            <a:avLst>
              <a:gd name="adj" fmla="val 6923"/>
            </a:avLst>
          </a:prstGeom>
          <a:solidFill>
            <a:srgbClr val="FFFFFF"/>
          </a:solidFill>
          <a:ln w="19050">
            <a:solidFill>
              <a:srgbClr val="2E86AB"/>
            </a:solidFill>
            <a:prstDash val="solid"/>
          </a:ln>
        </p:spPr>
      </p:sp>
      <p:sp>
        <p:nvSpPr>
          <p:cNvPr id="9" name="Shape 7"/>
          <p:cNvSpPr/>
          <p:nvPr/>
        </p:nvSpPr>
        <p:spPr>
          <a:xfrm>
            <a:off x="3337560" y="1554480"/>
            <a:ext cx="320040" cy="320040"/>
          </a:xfrm>
          <a:prstGeom prst="ellipse">
            <a:avLst/>
          </a:prstGeom>
          <a:solidFill>
            <a:srgbClr val="2E86AB"/>
          </a:solidFill>
          <a:ln/>
        </p:spPr>
      </p:sp>
      <p:sp>
        <p:nvSpPr>
          <p:cNvPr id="10" name="Text 8"/>
          <p:cNvSpPr/>
          <p:nvPr/>
        </p:nvSpPr>
        <p:spPr>
          <a:xfrm>
            <a:off x="3337560" y="15544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3337560" y="1947672"/>
            <a:ext cx="2057400" cy="594360"/>
          </a:xfrm>
          <a:prstGeom prst="rect">
            <a:avLst/>
          </a:prstGeom>
          <a:noFill/>
          <a:ln/>
        </p:spPr>
        <p:txBody>
          <a:bodyPr wrap="square" lIns="0" tIns="0" rIns="0" bIns="0" rtlCol="0" anchor="ctr"/>
          <a:lstStyle/>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Cleaning</a:t>
            </a:r>
            <a:endParaRPr lang="en-US" sz="1350" dirty="0"/>
          </a:p>
        </p:txBody>
      </p:sp>
      <p:sp>
        <p:nvSpPr>
          <p:cNvPr id="12" name="Text 10"/>
          <p:cNvSpPr/>
          <p:nvPr/>
        </p:nvSpPr>
        <p:spPr>
          <a:xfrm>
            <a:off x="5532120" y="1417320"/>
            <a:ext cx="320040" cy="1188720"/>
          </a:xfrm>
          <a:prstGeom prst="rect">
            <a:avLst/>
          </a:prstGeom>
          <a:noFill/>
          <a:ln/>
        </p:spPr>
        <p:txBody>
          <a:bodyPr wrap="square"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852160" y="1417320"/>
            <a:ext cx="2331720" cy="1188720"/>
          </a:xfrm>
          <a:prstGeom prst="roundRect">
            <a:avLst>
              <a:gd name="adj" fmla="val 6923"/>
            </a:avLst>
          </a:prstGeom>
          <a:solidFill>
            <a:srgbClr val="FFFFFF"/>
          </a:solidFill>
          <a:ln w="19050">
            <a:solidFill>
              <a:srgbClr val="F4A300"/>
            </a:solidFill>
            <a:prstDash val="solid"/>
          </a:ln>
        </p:spPr>
      </p:sp>
      <p:sp>
        <p:nvSpPr>
          <p:cNvPr id="14" name="Shape 12"/>
          <p:cNvSpPr/>
          <p:nvPr/>
        </p:nvSpPr>
        <p:spPr>
          <a:xfrm>
            <a:off x="5989320" y="1554480"/>
            <a:ext cx="320040" cy="320040"/>
          </a:xfrm>
          <a:prstGeom prst="ellipse">
            <a:avLst/>
          </a:prstGeom>
          <a:solidFill>
            <a:srgbClr val="F4A300"/>
          </a:solidFill>
          <a:ln/>
        </p:spPr>
      </p:sp>
      <p:sp>
        <p:nvSpPr>
          <p:cNvPr id="15" name="Text 13"/>
          <p:cNvSpPr/>
          <p:nvPr/>
        </p:nvSpPr>
        <p:spPr>
          <a:xfrm>
            <a:off x="5989320" y="15544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5989320" y="1947672"/>
            <a:ext cx="2057400" cy="594360"/>
          </a:xfrm>
          <a:prstGeom prst="rect">
            <a:avLst/>
          </a:prstGeom>
          <a:noFill/>
          <a:ln/>
        </p:spPr>
        <p:txBody>
          <a:bodyPr wrap="square" lIns="0" tIns="0" rIns="0" bIns="0" rtlCol="0" anchor="ctr"/>
          <a:lstStyle/>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Pivot Tables</a:t>
            </a:r>
            <a:endParaRPr lang="en-US" sz="1350" dirty="0"/>
          </a:p>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&amp; Charts</a:t>
            </a:r>
            <a:endParaRPr lang="en-US" sz="1350" dirty="0"/>
          </a:p>
        </p:txBody>
      </p:sp>
      <p:sp>
        <p:nvSpPr>
          <p:cNvPr id="17" name="Text 15"/>
          <p:cNvSpPr/>
          <p:nvPr/>
        </p:nvSpPr>
        <p:spPr>
          <a:xfrm>
            <a:off x="8183880" y="1417320"/>
            <a:ext cx="320040" cy="1188720"/>
          </a:xfrm>
          <a:prstGeom prst="rect">
            <a:avLst/>
          </a:prstGeom>
          <a:noFill/>
          <a:ln/>
        </p:spPr>
        <p:txBody>
          <a:bodyPr wrap="square" rtlCol="0" anchor="ctr"/>
          <a:lstStyle/>
          <a:p>
            <a:pPr marL="0" indent="0" algn="ctr">
              <a:buNone/>
            </a:pPr>
            <a:r>
              <a:rPr lang="en-US" sz="2000" dirty="0">
                <a:solidFill>
                  <a:srgbClr val="6B7785"/>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8503920" y="1417320"/>
            <a:ext cx="2331720" cy="1188720"/>
          </a:xfrm>
          <a:prstGeom prst="roundRect">
            <a:avLst>
              <a:gd name="adj" fmla="val 6923"/>
            </a:avLst>
          </a:prstGeom>
          <a:solidFill>
            <a:srgbClr val="FFFFFF"/>
          </a:solidFill>
          <a:ln w="19050">
            <a:solidFill>
              <a:srgbClr val="3E9C63"/>
            </a:solidFill>
            <a:prstDash val="solid"/>
          </a:ln>
        </p:spPr>
      </p:sp>
      <p:sp>
        <p:nvSpPr>
          <p:cNvPr id="19" name="Shape 17"/>
          <p:cNvSpPr/>
          <p:nvPr/>
        </p:nvSpPr>
        <p:spPr>
          <a:xfrm>
            <a:off x="8641080" y="1554480"/>
            <a:ext cx="320040" cy="320040"/>
          </a:xfrm>
          <a:prstGeom prst="ellipse">
            <a:avLst/>
          </a:prstGeom>
          <a:solidFill>
            <a:srgbClr val="3E9C63"/>
          </a:solidFill>
          <a:ln/>
        </p:spPr>
      </p:sp>
      <p:sp>
        <p:nvSpPr>
          <p:cNvPr id="20" name="Text 18"/>
          <p:cNvSpPr/>
          <p:nvPr/>
        </p:nvSpPr>
        <p:spPr>
          <a:xfrm>
            <a:off x="8641080" y="15544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8641080" y="1947672"/>
            <a:ext cx="2057400" cy="594360"/>
          </a:xfrm>
          <a:prstGeom prst="rect">
            <a:avLst/>
          </a:prstGeom>
          <a:noFill/>
          <a:ln/>
        </p:spPr>
        <p:txBody>
          <a:bodyPr wrap="square" lIns="0" tIns="0" rIns="0" bIns="0" rtlCol="0" anchor="ctr"/>
          <a:lstStyle/>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Dashboard</a:t>
            </a:r>
            <a:endParaRPr lang="en-US" sz="1350" dirty="0"/>
          </a:p>
          <a:p>
            <a:pPr marL="0" indent="0">
              <a:lnSpc>
                <a:spcPts val="1600"/>
              </a:lnSpc>
              <a:buNone/>
            </a:pPr>
            <a:r>
              <a:rPr lang="en-US" sz="1350" b="1" dirty="0">
                <a:solidFill>
                  <a:srgbClr val="1B2A4A"/>
                </a:solidFill>
                <a:latin typeface="Calibri" pitchFamily="34" charset="0"/>
                <a:ea typeface="Calibri" pitchFamily="34" charset="-122"/>
                <a:cs typeface="Calibri" pitchFamily="34" charset="-120"/>
              </a:rPr>
              <a:t>&amp; Insights</a:t>
            </a:r>
            <a:endParaRPr lang="en-US" sz="1350" dirty="0"/>
          </a:p>
        </p:txBody>
      </p:sp>
      <p:sp>
        <p:nvSpPr>
          <p:cNvPr id="22" name="Text 20"/>
          <p:cNvSpPr/>
          <p:nvPr/>
        </p:nvSpPr>
        <p:spPr>
          <a:xfrm>
            <a:off x="548640" y="3063240"/>
            <a:ext cx="548640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Excel functions &amp; tools used</a:t>
            </a:r>
            <a:endParaRPr lang="en-US" sz="1600" dirty="0"/>
          </a:p>
        </p:txBody>
      </p:sp>
      <p:sp>
        <p:nvSpPr>
          <p:cNvPr id="23" name="Shape 21"/>
          <p:cNvSpPr/>
          <p:nvPr/>
        </p:nvSpPr>
        <p:spPr>
          <a:xfrm>
            <a:off x="548640" y="3520440"/>
            <a:ext cx="3017520" cy="457200"/>
          </a:xfrm>
          <a:prstGeom prst="roundRect">
            <a:avLst>
              <a:gd name="adj" fmla="val 12000"/>
            </a:avLst>
          </a:prstGeom>
          <a:solidFill>
            <a:srgbClr val="FFFFFF"/>
          </a:solidFill>
          <a:ln w="9525">
            <a:solidFill>
              <a:srgbClr val="D6DEE8"/>
            </a:solidFill>
            <a:prstDash val="solid"/>
          </a:ln>
        </p:spPr>
      </p:sp>
      <p:sp>
        <p:nvSpPr>
          <p:cNvPr id="24" name="Text 22"/>
          <p:cNvSpPr/>
          <p:nvPr/>
        </p:nvSpPr>
        <p:spPr>
          <a:xfrm>
            <a:off x="685800" y="3520440"/>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COUNTIFS()</a:t>
            </a:r>
            <a:endParaRPr lang="en-US" sz="1200" dirty="0"/>
          </a:p>
        </p:txBody>
      </p:sp>
      <p:sp>
        <p:nvSpPr>
          <p:cNvPr id="25" name="Shape 23"/>
          <p:cNvSpPr/>
          <p:nvPr/>
        </p:nvSpPr>
        <p:spPr>
          <a:xfrm>
            <a:off x="3794760" y="3520440"/>
            <a:ext cx="3017520" cy="457200"/>
          </a:xfrm>
          <a:prstGeom prst="roundRect">
            <a:avLst>
              <a:gd name="adj" fmla="val 12000"/>
            </a:avLst>
          </a:prstGeom>
          <a:solidFill>
            <a:srgbClr val="FFFFFF"/>
          </a:solidFill>
          <a:ln w="9525">
            <a:solidFill>
              <a:srgbClr val="D6DEE8"/>
            </a:solidFill>
            <a:prstDash val="solid"/>
          </a:ln>
        </p:spPr>
      </p:sp>
      <p:sp>
        <p:nvSpPr>
          <p:cNvPr id="26" name="Text 24"/>
          <p:cNvSpPr/>
          <p:nvPr/>
        </p:nvSpPr>
        <p:spPr>
          <a:xfrm>
            <a:off x="3931920" y="3520440"/>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SUMIFS()</a:t>
            </a:r>
            <a:endParaRPr lang="en-US" sz="1200" dirty="0"/>
          </a:p>
        </p:txBody>
      </p:sp>
      <p:sp>
        <p:nvSpPr>
          <p:cNvPr id="27" name="Shape 25"/>
          <p:cNvSpPr/>
          <p:nvPr/>
        </p:nvSpPr>
        <p:spPr>
          <a:xfrm>
            <a:off x="548640" y="4087368"/>
            <a:ext cx="3017520" cy="457200"/>
          </a:xfrm>
          <a:prstGeom prst="roundRect">
            <a:avLst>
              <a:gd name="adj" fmla="val 12000"/>
            </a:avLst>
          </a:prstGeom>
          <a:solidFill>
            <a:srgbClr val="FFFFFF"/>
          </a:solidFill>
          <a:ln w="9525">
            <a:solidFill>
              <a:srgbClr val="D6DEE8"/>
            </a:solidFill>
            <a:prstDash val="solid"/>
          </a:ln>
        </p:spPr>
      </p:sp>
      <p:sp>
        <p:nvSpPr>
          <p:cNvPr id="28" name="Text 26"/>
          <p:cNvSpPr/>
          <p:nvPr/>
        </p:nvSpPr>
        <p:spPr>
          <a:xfrm>
            <a:off x="685800" y="4087368"/>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AVERAGEIFS()</a:t>
            </a:r>
            <a:endParaRPr lang="en-US" sz="1200" dirty="0"/>
          </a:p>
        </p:txBody>
      </p:sp>
      <p:sp>
        <p:nvSpPr>
          <p:cNvPr id="29" name="Shape 27"/>
          <p:cNvSpPr/>
          <p:nvPr/>
        </p:nvSpPr>
        <p:spPr>
          <a:xfrm>
            <a:off x="3794760" y="4087368"/>
            <a:ext cx="3017520" cy="457200"/>
          </a:xfrm>
          <a:prstGeom prst="roundRect">
            <a:avLst>
              <a:gd name="adj" fmla="val 12000"/>
            </a:avLst>
          </a:prstGeom>
          <a:solidFill>
            <a:srgbClr val="FFFFFF"/>
          </a:solidFill>
          <a:ln w="9525">
            <a:solidFill>
              <a:srgbClr val="D6DEE8"/>
            </a:solidFill>
            <a:prstDash val="solid"/>
          </a:ln>
        </p:spPr>
      </p:sp>
      <p:sp>
        <p:nvSpPr>
          <p:cNvPr id="30" name="Text 28"/>
          <p:cNvSpPr/>
          <p:nvPr/>
        </p:nvSpPr>
        <p:spPr>
          <a:xfrm>
            <a:off x="3931920" y="4087368"/>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IF() / IFERROR()</a:t>
            </a:r>
            <a:endParaRPr lang="en-US" sz="1200" dirty="0"/>
          </a:p>
        </p:txBody>
      </p:sp>
      <p:sp>
        <p:nvSpPr>
          <p:cNvPr id="31" name="Shape 29"/>
          <p:cNvSpPr/>
          <p:nvPr/>
        </p:nvSpPr>
        <p:spPr>
          <a:xfrm>
            <a:off x="548640" y="4654296"/>
            <a:ext cx="3017520" cy="457200"/>
          </a:xfrm>
          <a:prstGeom prst="roundRect">
            <a:avLst>
              <a:gd name="adj" fmla="val 12000"/>
            </a:avLst>
          </a:prstGeom>
          <a:solidFill>
            <a:srgbClr val="FFFFFF"/>
          </a:solidFill>
          <a:ln w="9525">
            <a:solidFill>
              <a:srgbClr val="D6DEE8"/>
            </a:solidFill>
            <a:prstDash val="solid"/>
          </a:ln>
        </p:spPr>
      </p:sp>
      <p:sp>
        <p:nvSpPr>
          <p:cNvPr id="32" name="Text 30"/>
          <p:cNvSpPr/>
          <p:nvPr/>
        </p:nvSpPr>
        <p:spPr>
          <a:xfrm>
            <a:off x="685800" y="4654296"/>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CORREL()</a:t>
            </a:r>
            <a:endParaRPr lang="en-US" sz="1200" dirty="0"/>
          </a:p>
        </p:txBody>
      </p:sp>
      <p:sp>
        <p:nvSpPr>
          <p:cNvPr id="33" name="Shape 31"/>
          <p:cNvSpPr/>
          <p:nvPr/>
        </p:nvSpPr>
        <p:spPr>
          <a:xfrm>
            <a:off x="3794760" y="4654296"/>
            <a:ext cx="3017520" cy="457200"/>
          </a:xfrm>
          <a:prstGeom prst="roundRect">
            <a:avLst>
              <a:gd name="adj" fmla="val 12000"/>
            </a:avLst>
          </a:prstGeom>
          <a:solidFill>
            <a:srgbClr val="FFFFFF"/>
          </a:solidFill>
          <a:ln w="9525">
            <a:solidFill>
              <a:srgbClr val="D6DEE8"/>
            </a:solidFill>
            <a:prstDash val="solid"/>
          </a:ln>
        </p:spPr>
      </p:sp>
      <p:sp>
        <p:nvSpPr>
          <p:cNvPr id="34" name="Text 32"/>
          <p:cNvSpPr/>
          <p:nvPr/>
        </p:nvSpPr>
        <p:spPr>
          <a:xfrm>
            <a:off x="3931920" y="4654296"/>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RIGHT / FIND (text extraction)</a:t>
            </a:r>
            <a:endParaRPr lang="en-US" sz="1200" dirty="0"/>
          </a:p>
        </p:txBody>
      </p:sp>
      <p:sp>
        <p:nvSpPr>
          <p:cNvPr id="35" name="Shape 33"/>
          <p:cNvSpPr/>
          <p:nvPr/>
        </p:nvSpPr>
        <p:spPr>
          <a:xfrm>
            <a:off x="548640" y="5221224"/>
            <a:ext cx="3017520" cy="457200"/>
          </a:xfrm>
          <a:prstGeom prst="roundRect">
            <a:avLst>
              <a:gd name="adj" fmla="val 12000"/>
            </a:avLst>
          </a:prstGeom>
          <a:solidFill>
            <a:srgbClr val="FFFFFF"/>
          </a:solidFill>
          <a:ln w="9525">
            <a:solidFill>
              <a:srgbClr val="D6DEE8"/>
            </a:solidFill>
            <a:prstDash val="solid"/>
          </a:ln>
        </p:spPr>
      </p:sp>
      <p:sp>
        <p:nvSpPr>
          <p:cNvPr id="36" name="Text 34"/>
          <p:cNvSpPr/>
          <p:nvPr/>
        </p:nvSpPr>
        <p:spPr>
          <a:xfrm>
            <a:off x="685800" y="5221224"/>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Pivot Tables &amp; Pivot Charts</a:t>
            </a:r>
            <a:endParaRPr lang="en-US" sz="1200" dirty="0"/>
          </a:p>
        </p:txBody>
      </p:sp>
      <p:sp>
        <p:nvSpPr>
          <p:cNvPr id="37" name="Shape 35"/>
          <p:cNvSpPr/>
          <p:nvPr/>
        </p:nvSpPr>
        <p:spPr>
          <a:xfrm>
            <a:off x="3794760" y="5221224"/>
            <a:ext cx="3017520" cy="457200"/>
          </a:xfrm>
          <a:prstGeom prst="roundRect">
            <a:avLst>
              <a:gd name="adj" fmla="val 12000"/>
            </a:avLst>
          </a:prstGeom>
          <a:solidFill>
            <a:srgbClr val="FFFFFF"/>
          </a:solidFill>
          <a:ln w="9525">
            <a:solidFill>
              <a:srgbClr val="D6DEE8"/>
            </a:solidFill>
            <a:prstDash val="solid"/>
          </a:ln>
        </p:spPr>
      </p:sp>
      <p:sp>
        <p:nvSpPr>
          <p:cNvPr id="38" name="Text 36"/>
          <p:cNvSpPr/>
          <p:nvPr/>
        </p:nvSpPr>
        <p:spPr>
          <a:xfrm>
            <a:off x="3931920" y="5221224"/>
            <a:ext cx="2743200" cy="45720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Slicers for interactive filtering</a:t>
            </a:r>
            <a:endParaRPr lang="en-US" sz="1200" dirty="0"/>
          </a:p>
        </p:txBody>
      </p:sp>
      <p:sp>
        <p:nvSpPr>
          <p:cNvPr id="39" name="Shape 37"/>
          <p:cNvSpPr/>
          <p:nvPr/>
        </p:nvSpPr>
        <p:spPr>
          <a:xfrm>
            <a:off x="7315200" y="1417320"/>
            <a:ext cx="4297680" cy="4434840"/>
          </a:xfrm>
          <a:prstGeom prst="roundRect">
            <a:avLst>
              <a:gd name="adj" fmla="val 2128"/>
            </a:avLst>
          </a:prstGeom>
          <a:solidFill>
            <a:srgbClr val="1B2A4A"/>
          </a:solidFill>
          <a:ln/>
        </p:spPr>
      </p:sp>
      <p:sp>
        <p:nvSpPr>
          <p:cNvPr id="40" name="Text 38"/>
          <p:cNvSpPr/>
          <p:nvPr/>
        </p:nvSpPr>
        <p:spPr>
          <a:xfrm>
            <a:off x="7589520" y="1691640"/>
            <a:ext cx="374904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approach</a:t>
            </a:r>
            <a:endParaRPr lang="en-US" sz="1500" dirty="0"/>
          </a:p>
        </p:txBody>
      </p:sp>
      <p:sp>
        <p:nvSpPr>
          <p:cNvPr id="41" name="Text 39"/>
          <p:cNvSpPr/>
          <p:nvPr/>
        </p:nvSpPr>
        <p:spPr>
          <a:xfrm>
            <a:off x="7589520" y="2148840"/>
            <a:ext cx="3794760" cy="3566160"/>
          </a:xfrm>
          <a:prstGeom prst="rect">
            <a:avLst/>
          </a:prstGeom>
          <a:noFill/>
          <a:ln/>
        </p:spPr>
        <p:txBody>
          <a:bodyPr wrap="square" rtlCol="0" anchor="ctr"/>
          <a:lstStyle/>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No coding environment required — the full analysis lives inside one workbook</a:t>
            </a:r>
            <a:endParaRPr lang="en-US" sz="1250" dirty="0"/>
          </a:p>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Pivot tables recompute instantly as new tickets are appended</a:t>
            </a:r>
            <a:endParaRPr lang="en-US" sz="1250" dirty="0"/>
          </a:p>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Slicers let any stakeholder filter by year, category, or agent without touching formulas</a:t>
            </a:r>
            <a:endParaRPr lang="en-US" sz="1250" dirty="0"/>
          </a:p>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Charts are wired directly to pivot data, so the dashboard always reflects the latest numbers</a:t>
            </a:r>
            <a:endParaRPr lang="en-US" sz="1250" dirty="0"/>
          </a:p>
        </p:txBody>
      </p:sp>
      <p:sp>
        <p:nvSpPr>
          <p:cNvPr id="42" name="Text 40"/>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43" name="Text 41"/>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Ticket Category Distribution</a:t>
            </a:r>
            <a:endParaRPr lang="en-US" sz="3000" dirty="0"/>
          </a:p>
        </p:txBody>
      </p:sp>
      <p:graphicFrame>
        <p:nvGraphicFramePr>
          <p:cNvPr id="3" name="Chart 0"/>
          <p:cNvGraphicFramePr/>
          <p:nvPr/>
        </p:nvGraphicFramePr>
        <p:xfrm>
          <a:off x="548640" y="128016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315200" y="1417320"/>
            <a:ext cx="4297680" cy="36576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Key insight</a:t>
            </a:r>
            <a:endParaRPr lang="en-US" sz="1500" dirty="0"/>
          </a:p>
        </p:txBody>
      </p:sp>
      <p:sp>
        <p:nvSpPr>
          <p:cNvPr id="5" name="Text 2"/>
          <p:cNvSpPr/>
          <p:nvPr/>
        </p:nvSpPr>
        <p:spPr>
          <a:xfrm>
            <a:off x="7315200" y="1828800"/>
            <a:ext cx="4297680" cy="1554480"/>
          </a:xfrm>
          <a:prstGeom prst="rect">
            <a:avLst/>
          </a:prstGeom>
          <a:noFill/>
          <a:ln/>
        </p:spPr>
        <p:txBody>
          <a:bodyPr wrap="square" rtlCol="0" anchor="ctr"/>
          <a:lstStyle/>
          <a:p>
            <a:pPr marL="0" indent="0">
              <a:lnSpc>
                <a:spcPts val="2100"/>
              </a:lnSpc>
              <a:buNone/>
            </a:pPr>
            <a:r>
              <a:rPr lang="en-US" sz="1300" dirty="0">
                <a:solidFill>
                  <a:srgbClr val="1B2A4A"/>
                </a:solidFill>
                <a:latin typeface="Calibri" pitchFamily="34" charset="0"/>
                <a:ea typeface="Calibri" pitchFamily="34" charset="-122"/>
                <a:cs typeface="Calibri" pitchFamily="34" charset="-120"/>
              </a:rPr>
              <a:t>System issues are the largest single category — 40% of all tickets — followed by Login Access at 30%. Together, System and Login Access make up 7 out of every 10 tickets the help desk handles.</a:t>
            </a:r>
            <a:endParaRPr lang="en-US" sz="1300" dirty="0"/>
          </a:p>
        </p:txBody>
      </p:sp>
      <p:sp>
        <p:nvSpPr>
          <p:cNvPr id="6" name="Shape 3"/>
          <p:cNvSpPr/>
          <p:nvPr/>
        </p:nvSpPr>
        <p:spPr>
          <a:xfrm>
            <a:off x="7315200" y="3566160"/>
            <a:ext cx="429768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7" name="Shape 4"/>
          <p:cNvSpPr/>
          <p:nvPr/>
        </p:nvSpPr>
        <p:spPr>
          <a:xfrm>
            <a:off x="7315200" y="3566160"/>
            <a:ext cx="54864" cy="1005840"/>
          </a:xfrm>
          <a:prstGeom prst="rect">
            <a:avLst/>
          </a:prstGeom>
          <a:solidFill>
            <a:srgbClr val="1B2A4A"/>
          </a:solidFill>
          <a:ln/>
        </p:spPr>
      </p:sp>
      <p:sp>
        <p:nvSpPr>
          <p:cNvPr id="8" name="Text 5"/>
          <p:cNvSpPr txBox="1"/>
          <p:nvPr/>
        </p:nvSpPr>
        <p:spPr>
          <a:xfrm>
            <a:off x="7452360" y="3657600"/>
            <a:ext cx="402336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39,002</a:t>
            </a:r>
            <a:endParaRPr lang="en-US" sz="2200" dirty="0"/>
          </a:p>
        </p:txBody>
      </p:sp>
      <p:sp>
        <p:nvSpPr>
          <p:cNvPr id="9" name="Text 6"/>
          <p:cNvSpPr txBox="1"/>
          <p:nvPr/>
        </p:nvSpPr>
        <p:spPr>
          <a:xfrm>
            <a:off x="7452360" y="4189781"/>
            <a:ext cx="402336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System tickets — the largest category (40%)</a:t>
            </a:r>
            <a:endParaRPr lang="en-US" sz="1050" dirty="0"/>
          </a:p>
        </p:txBody>
      </p:sp>
      <p:sp>
        <p:nvSpPr>
          <p:cNvPr id="10" name="Shape 7"/>
          <p:cNvSpPr/>
          <p:nvPr/>
        </p:nvSpPr>
        <p:spPr>
          <a:xfrm>
            <a:off x="7315200" y="4709160"/>
            <a:ext cx="429768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1" name="Shape 8"/>
          <p:cNvSpPr/>
          <p:nvPr/>
        </p:nvSpPr>
        <p:spPr>
          <a:xfrm>
            <a:off x="7315200" y="4709160"/>
            <a:ext cx="54864" cy="1005840"/>
          </a:xfrm>
          <a:prstGeom prst="rect">
            <a:avLst/>
          </a:prstGeom>
          <a:solidFill>
            <a:srgbClr val="2E86AB"/>
          </a:solidFill>
          <a:ln/>
        </p:spPr>
      </p:sp>
      <p:sp>
        <p:nvSpPr>
          <p:cNvPr id="12" name="Text 9"/>
          <p:cNvSpPr txBox="1"/>
          <p:nvPr/>
        </p:nvSpPr>
        <p:spPr>
          <a:xfrm>
            <a:off x="7452360" y="4800600"/>
            <a:ext cx="402336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9,733</a:t>
            </a:r>
            <a:endParaRPr lang="en-US" sz="2200" dirty="0"/>
          </a:p>
        </p:txBody>
      </p:sp>
      <p:sp>
        <p:nvSpPr>
          <p:cNvPr id="13" name="Text 10"/>
          <p:cNvSpPr txBox="1"/>
          <p:nvPr/>
        </p:nvSpPr>
        <p:spPr>
          <a:xfrm>
            <a:off x="7452360" y="5332781"/>
            <a:ext cx="402336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Hardware — the smallest category (10%)</a:t>
            </a:r>
            <a:endParaRPr lang="en-US" sz="1050" dirty="0"/>
          </a:p>
        </p:txBody>
      </p:sp>
      <p:sp>
        <p:nvSpPr>
          <p:cNvPr id="14" name="Text 11"/>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5" name="Text 12"/>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Issue Type &amp; Severity Breakdown</a:t>
            </a:r>
            <a:endParaRPr lang="en-US" sz="3000" dirty="0"/>
          </a:p>
        </p:txBody>
      </p:sp>
      <p:graphicFrame>
        <p:nvGraphicFramePr>
          <p:cNvPr id="3" name="Chart 0"/>
          <p:cNvGraphicFramePr/>
          <p:nvPr/>
        </p:nvGraphicFramePr>
        <p:xfrm>
          <a:off x="457200" y="1280160"/>
          <a:ext cx="512064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5806440" y="1280160"/>
          <a:ext cx="58521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5" name="Shape 1"/>
          <p:cNvSpPr/>
          <p:nvPr/>
        </p:nvSpPr>
        <p:spPr>
          <a:xfrm>
            <a:off x="548640" y="4251960"/>
            <a:ext cx="11064240" cy="0"/>
          </a:xfrm>
          <a:prstGeom prst="line">
            <a:avLst/>
          </a:prstGeom>
          <a:noFill/>
          <a:ln w="12700">
            <a:solidFill>
              <a:srgbClr val="D6DEE8"/>
            </a:solidFill>
            <a:prstDash val="solid"/>
          </a:ln>
        </p:spPr>
      </p:sp>
      <p:sp>
        <p:nvSpPr>
          <p:cNvPr id="6" name="Text 2"/>
          <p:cNvSpPr/>
          <p:nvPr/>
        </p:nvSpPr>
        <p:spPr>
          <a:xfrm>
            <a:off x="548640" y="4434840"/>
            <a:ext cx="11064240" cy="1463040"/>
          </a:xfrm>
          <a:prstGeom prst="rect">
            <a:avLst/>
          </a:prstGeom>
          <a:noFill/>
          <a:ln/>
        </p:spPr>
        <p:txBody>
          <a:bodyPr wrap="square" rtlCol="0" anchor="ctr"/>
          <a:lstStyle/>
          <a:p>
            <a:pPr marL="0" indent="0">
              <a:lnSpc>
                <a:spcPts val="2200"/>
              </a:lnSpc>
              <a:buNone/>
            </a:pPr>
            <a:r>
              <a:rPr lang="en-US" sz="1400" dirty="0">
                <a:solidFill>
                  <a:srgbClr val="1B2A4A"/>
                </a:solidFill>
                <a:latin typeface="Calibri" pitchFamily="34" charset="0"/>
                <a:ea typeface="Calibri" pitchFamily="34" charset="-122"/>
                <a:cs typeface="Calibri" pitchFamily="34" charset="-120"/>
              </a:rPr>
              <a:t>75% of tickets are IT Requests (routine asks) rather than IT Errors. Severity skews heavily toward “Normal” (91% of tickets) — very few tickets are ever flagged Urgent (1.4%), suggesting the severity field is under-used for triage.</a:t>
            </a:r>
            <a:endParaRPr lang="en-US" sz="1400" dirty="0"/>
          </a:p>
        </p:txBody>
      </p:sp>
      <p:sp>
        <p:nvSpPr>
          <p:cNvPr id="7" name="Text 3"/>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8" name="Text 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Monthly Ticket Volume Trend</a:t>
            </a:r>
            <a:endParaRPr lang="en-US" sz="3000" dirty="0"/>
          </a:p>
        </p:txBody>
      </p:sp>
      <p:graphicFrame>
        <p:nvGraphicFramePr>
          <p:cNvPr id="3" name="Chart 0"/>
          <p:cNvGraphicFramePr/>
          <p:nvPr/>
        </p:nvGraphicFramePr>
        <p:xfrm>
          <a:off x="548640" y="1280160"/>
          <a:ext cx="10881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48640" y="5074920"/>
            <a:ext cx="356616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5" name="Shape 2"/>
          <p:cNvSpPr/>
          <p:nvPr/>
        </p:nvSpPr>
        <p:spPr>
          <a:xfrm>
            <a:off x="548640" y="5074920"/>
            <a:ext cx="54864" cy="960120"/>
          </a:xfrm>
          <a:prstGeom prst="rect">
            <a:avLst/>
          </a:prstGeom>
          <a:solidFill>
            <a:srgbClr val="2E86AB"/>
          </a:solidFill>
          <a:ln/>
        </p:spPr>
      </p:sp>
      <p:sp>
        <p:nvSpPr>
          <p:cNvPr id="6" name="Text 3"/>
          <p:cNvSpPr txBox="1"/>
          <p:nvPr/>
        </p:nvSpPr>
        <p:spPr>
          <a:xfrm>
            <a:off x="685800" y="5166360"/>
            <a:ext cx="329184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53.4 / day</a:t>
            </a:r>
            <a:endParaRPr lang="en-US" sz="2200" dirty="0"/>
          </a:p>
        </p:txBody>
      </p:sp>
      <p:sp>
        <p:nvSpPr>
          <p:cNvPr id="7" name="Text 4"/>
          <p:cNvSpPr txBox="1"/>
          <p:nvPr/>
        </p:nvSpPr>
        <p:spPr>
          <a:xfrm>
            <a:off x="685800" y="5670194"/>
            <a:ext cx="329184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Average daily ticket volume across the full period</a:t>
            </a:r>
            <a:endParaRPr lang="en-US" sz="1050" dirty="0"/>
          </a:p>
        </p:txBody>
      </p:sp>
      <p:sp>
        <p:nvSpPr>
          <p:cNvPr id="8" name="Shape 5"/>
          <p:cNvSpPr/>
          <p:nvPr/>
        </p:nvSpPr>
        <p:spPr>
          <a:xfrm>
            <a:off x="4343400" y="5074920"/>
            <a:ext cx="356616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9" name="Shape 6"/>
          <p:cNvSpPr/>
          <p:nvPr/>
        </p:nvSpPr>
        <p:spPr>
          <a:xfrm>
            <a:off x="4343400" y="5074920"/>
            <a:ext cx="54864" cy="960120"/>
          </a:xfrm>
          <a:prstGeom prst="rect">
            <a:avLst/>
          </a:prstGeom>
          <a:solidFill>
            <a:srgbClr val="F4A300"/>
          </a:solidFill>
          <a:ln/>
        </p:spPr>
      </p:sp>
      <p:sp>
        <p:nvSpPr>
          <p:cNvPr id="10" name="Text 7"/>
          <p:cNvSpPr txBox="1"/>
          <p:nvPr/>
        </p:nvSpPr>
        <p:spPr>
          <a:xfrm>
            <a:off x="4480560" y="5166360"/>
            <a:ext cx="329184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Oct: 8,495</a:t>
            </a:r>
            <a:endParaRPr lang="en-US" sz="2200" dirty="0"/>
          </a:p>
        </p:txBody>
      </p:sp>
      <p:sp>
        <p:nvSpPr>
          <p:cNvPr id="11" name="Text 8"/>
          <p:cNvSpPr txBox="1"/>
          <p:nvPr/>
        </p:nvSpPr>
        <p:spPr>
          <a:xfrm>
            <a:off x="4480560" y="5670194"/>
            <a:ext cx="329184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Busiest month; Jan lowest at 7,242</a:t>
            </a:r>
            <a:endParaRPr lang="en-US" sz="1050" dirty="0"/>
          </a:p>
        </p:txBody>
      </p:sp>
      <p:sp>
        <p:nvSpPr>
          <p:cNvPr id="12" name="Shape 9"/>
          <p:cNvSpPr/>
          <p:nvPr/>
        </p:nvSpPr>
        <p:spPr>
          <a:xfrm>
            <a:off x="8138160" y="5074920"/>
            <a:ext cx="347472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3" name="Shape 10"/>
          <p:cNvSpPr/>
          <p:nvPr/>
        </p:nvSpPr>
        <p:spPr>
          <a:xfrm>
            <a:off x="8138160" y="5074920"/>
            <a:ext cx="54864" cy="960120"/>
          </a:xfrm>
          <a:prstGeom prst="rect">
            <a:avLst/>
          </a:prstGeom>
          <a:solidFill>
            <a:srgbClr val="1B2A4A"/>
          </a:solidFill>
          <a:ln/>
        </p:spPr>
      </p:sp>
      <p:sp>
        <p:nvSpPr>
          <p:cNvPr id="14" name="Text 11"/>
          <p:cNvSpPr txBox="1"/>
          <p:nvPr/>
        </p:nvSpPr>
        <p:spPr>
          <a:xfrm>
            <a:off x="8275320" y="5166360"/>
            <a:ext cx="320040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~17%</a:t>
            </a:r>
            <a:endParaRPr lang="en-US" sz="2200" dirty="0"/>
          </a:p>
        </p:txBody>
      </p:sp>
      <p:sp>
        <p:nvSpPr>
          <p:cNvPr id="15" name="Text 12"/>
          <p:cNvSpPr txBox="1"/>
          <p:nvPr/>
        </p:nvSpPr>
        <p:spPr>
          <a:xfrm>
            <a:off x="8275320" y="5670194"/>
            <a:ext cx="320040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Swing between the quietest and busiest month</a:t>
            </a:r>
            <a:endParaRPr lang="en-US" sz="1050" dirty="0"/>
          </a:p>
        </p:txBody>
      </p:sp>
      <p:sp>
        <p:nvSpPr>
          <p:cNvPr id="16" name="Text 13"/>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7" name="Text 1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Resolution Time Analysis</a:t>
            </a:r>
            <a:endParaRPr lang="en-US" sz="3000" dirty="0"/>
          </a:p>
        </p:txBody>
      </p:sp>
      <p:graphicFrame>
        <p:nvGraphicFramePr>
          <p:cNvPr id="3" name="Chart 0"/>
          <p:cNvGraphicFramePr/>
          <p:nvPr/>
        </p:nvGraphicFramePr>
        <p:xfrm>
          <a:off x="548640" y="128016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315200" y="1417320"/>
            <a:ext cx="4297680" cy="36576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Key insight</a:t>
            </a:r>
            <a:endParaRPr lang="en-US" sz="1500" dirty="0"/>
          </a:p>
        </p:txBody>
      </p:sp>
      <p:sp>
        <p:nvSpPr>
          <p:cNvPr id="5" name="Text 2"/>
          <p:cNvSpPr/>
          <p:nvPr/>
        </p:nvSpPr>
        <p:spPr>
          <a:xfrm>
            <a:off x="7315200" y="1828800"/>
            <a:ext cx="4297680" cy="1645920"/>
          </a:xfrm>
          <a:prstGeom prst="rect">
            <a:avLst/>
          </a:prstGeom>
          <a:noFill/>
          <a:ln/>
        </p:spPr>
        <p:txBody>
          <a:bodyPr wrap="square" rtlCol="0" anchor="ctr"/>
          <a:lstStyle/>
          <a:p>
            <a:pPr marL="0" indent="0">
              <a:lnSpc>
                <a:spcPts val="2100"/>
              </a:lnSpc>
              <a:buNone/>
            </a:pPr>
            <a:r>
              <a:rPr lang="en-US" sz="1300" dirty="0">
                <a:solidFill>
                  <a:srgbClr val="1B2A4A"/>
                </a:solidFill>
                <a:latin typeface="Calibri" pitchFamily="34" charset="0"/>
                <a:ea typeface="Calibri" pitchFamily="34" charset="-122"/>
                <a:cs typeface="Calibri" pitchFamily="34" charset="-120"/>
              </a:rPr>
              <a:t>Hardware tickets take longest to close (7.6 days on average) — over 24× longer than Login Access issues, which are resolved almost immediately (0.3 days). System tickets, the highest-volume category, also run slow at 6.6 days.</a:t>
            </a:r>
            <a:endParaRPr lang="en-US" sz="1300" dirty="0"/>
          </a:p>
        </p:txBody>
      </p:sp>
      <p:sp>
        <p:nvSpPr>
          <p:cNvPr id="6" name="Shape 3"/>
          <p:cNvSpPr/>
          <p:nvPr/>
        </p:nvSpPr>
        <p:spPr>
          <a:xfrm>
            <a:off x="7315200" y="3566160"/>
            <a:ext cx="4297680" cy="1920240"/>
          </a:xfrm>
          <a:prstGeom prst="roundRect">
            <a:avLst>
              <a:gd name="adj" fmla="val 4286"/>
            </a:avLst>
          </a:prstGeom>
          <a:solidFill>
            <a:srgbClr val="FFFFFF"/>
          </a:solidFill>
          <a:ln w="12700">
            <a:solidFill>
              <a:srgbClr val="D6DEE8"/>
            </a:solidFill>
            <a:prstDash val="solid"/>
          </a:ln>
        </p:spPr>
      </p:sp>
      <p:sp>
        <p:nvSpPr>
          <p:cNvPr id="7" name="Text 4"/>
          <p:cNvSpPr/>
          <p:nvPr/>
        </p:nvSpPr>
        <p:spPr>
          <a:xfrm>
            <a:off x="7498080" y="3703320"/>
            <a:ext cx="3931920" cy="32004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Severity ↔ Resolution Time</a:t>
            </a:r>
            <a:endParaRPr lang="en-US" sz="1250" dirty="0"/>
          </a:p>
        </p:txBody>
      </p:sp>
      <p:sp>
        <p:nvSpPr>
          <p:cNvPr id="8" name="Text 5"/>
          <p:cNvSpPr/>
          <p:nvPr/>
        </p:nvSpPr>
        <p:spPr>
          <a:xfrm>
            <a:off x="7498080" y="4023360"/>
            <a:ext cx="3931920" cy="548640"/>
          </a:xfrm>
          <a:prstGeom prst="rect">
            <a:avLst/>
          </a:prstGeom>
          <a:noFill/>
          <a:ln/>
        </p:spPr>
        <p:txBody>
          <a:bodyPr wrap="square" rtlCol="0" anchor="ctr"/>
          <a:lstStyle/>
          <a:p>
            <a:pPr marL="0" indent="0">
              <a:buNone/>
            </a:pPr>
            <a:r>
              <a:rPr lang="en-US" sz="2600" b="1" dirty="0">
                <a:solidFill>
                  <a:srgbClr val="C0453A"/>
                </a:solidFill>
                <a:latin typeface="Cambria" pitchFamily="34" charset="0"/>
                <a:ea typeface="Cambria" pitchFamily="34" charset="-122"/>
                <a:cs typeface="Cambria" pitchFamily="34" charset="-120"/>
              </a:rPr>
              <a:t>r = −0.04</a:t>
            </a:r>
            <a:endParaRPr lang="en-US" sz="2600" dirty="0"/>
          </a:p>
        </p:txBody>
      </p:sp>
      <p:sp>
        <p:nvSpPr>
          <p:cNvPr id="9" name="Text 6"/>
          <p:cNvSpPr/>
          <p:nvPr/>
        </p:nvSpPr>
        <p:spPr>
          <a:xfrm>
            <a:off x="7498080" y="4572000"/>
            <a:ext cx="3931920" cy="868680"/>
          </a:xfrm>
          <a:prstGeom prst="rect">
            <a:avLst/>
          </a:prstGeom>
          <a:noFill/>
          <a:ln/>
        </p:spPr>
        <p:txBody>
          <a:bodyPr wrap="square" rtlCol="0" anchor="ctr"/>
          <a:lstStyle/>
          <a:p>
            <a:pPr marL="0" indent="0">
              <a:lnSpc>
                <a:spcPts val="1600"/>
              </a:lnSpc>
              <a:buNone/>
            </a:pPr>
            <a:r>
              <a:rPr lang="en-US" sz="1150" dirty="0">
                <a:solidFill>
                  <a:srgbClr val="6B7785"/>
                </a:solidFill>
                <a:latin typeface="Calibri" pitchFamily="34" charset="0"/>
                <a:ea typeface="Calibri" pitchFamily="34" charset="-122"/>
                <a:cs typeface="Calibri" pitchFamily="34" charset="-120"/>
              </a:rPr>
              <a:t>Essentially no correlation — a ticket's declared severity does not predict how long it takes to resolve, pointing to inconsistent triage rather than case complexity.</a:t>
            </a:r>
            <a:endParaRPr lang="en-US" sz="1150" dirty="0"/>
          </a:p>
        </p:txBody>
      </p:sp>
      <p:sp>
        <p:nvSpPr>
          <p:cNvPr id="10" name="Text 7"/>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1" name="Text 8"/>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Year-over-Year Growth</a:t>
            </a:r>
            <a:endParaRPr lang="en-US" sz="3000" dirty="0"/>
          </a:p>
        </p:txBody>
      </p:sp>
      <p:graphicFrame>
        <p:nvGraphicFramePr>
          <p:cNvPr id="3" name="Chart 0"/>
          <p:cNvGraphicFramePr/>
          <p:nvPr/>
        </p:nvGraphicFramePr>
        <p:xfrm>
          <a:off x="548640" y="128016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589520" y="1417320"/>
            <a:ext cx="4023360" cy="1188720"/>
          </a:xfrm>
          <a:prstGeom prst="roundRect">
            <a:avLst>
              <a:gd name="adj" fmla="val 6154"/>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5" name="Shape 2"/>
          <p:cNvSpPr/>
          <p:nvPr/>
        </p:nvSpPr>
        <p:spPr>
          <a:xfrm>
            <a:off x="7589520" y="1417320"/>
            <a:ext cx="54864" cy="1188720"/>
          </a:xfrm>
          <a:prstGeom prst="rect">
            <a:avLst/>
          </a:prstGeom>
          <a:solidFill>
            <a:srgbClr val="3E9C63"/>
          </a:solidFill>
          <a:ln/>
        </p:spPr>
      </p:sp>
      <p:sp>
        <p:nvSpPr>
          <p:cNvPr id="6" name="Text 3"/>
          <p:cNvSpPr txBox="1"/>
          <p:nvPr/>
        </p:nvSpPr>
        <p:spPr>
          <a:xfrm>
            <a:off x="7726680" y="1508760"/>
            <a:ext cx="3749040" cy="65379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+122.9%</a:t>
            </a:r>
            <a:endParaRPr lang="en-US" sz="2200" dirty="0"/>
          </a:p>
        </p:txBody>
      </p:sp>
      <p:sp>
        <p:nvSpPr>
          <p:cNvPr id="7" name="Text 4"/>
          <p:cNvSpPr txBox="1"/>
          <p:nvPr/>
        </p:nvSpPr>
        <p:spPr>
          <a:xfrm>
            <a:off x="7726680" y="2154326"/>
            <a:ext cx="3749040" cy="41605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Total ticket growth from 2016 to 2020</a:t>
            </a:r>
            <a:endParaRPr lang="en-US" sz="1050" dirty="0"/>
          </a:p>
        </p:txBody>
      </p:sp>
      <p:sp>
        <p:nvSpPr>
          <p:cNvPr id="8" name="Shape 5"/>
          <p:cNvSpPr/>
          <p:nvPr/>
        </p:nvSpPr>
        <p:spPr>
          <a:xfrm>
            <a:off x="7589520" y="2743200"/>
            <a:ext cx="4023360" cy="1188720"/>
          </a:xfrm>
          <a:prstGeom prst="roundRect">
            <a:avLst>
              <a:gd name="adj" fmla="val 6154"/>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9" name="Shape 6"/>
          <p:cNvSpPr/>
          <p:nvPr/>
        </p:nvSpPr>
        <p:spPr>
          <a:xfrm>
            <a:off x="7589520" y="2743200"/>
            <a:ext cx="54864" cy="1188720"/>
          </a:xfrm>
          <a:prstGeom prst="rect">
            <a:avLst/>
          </a:prstGeom>
          <a:solidFill>
            <a:srgbClr val="2E86AB"/>
          </a:solidFill>
          <a:ln/>
        </p:spPr>
      </p:sp>
      <p:sp>
        <p:nvSpPr>
          <p:cNvPr id="10" name="Text 7"/>
          <p:cNvSpPr txBox="1"/>
          <p:nvPr/>
        </p:nvSpPr>
        <p:spPr>
          <a:xfrm>
            <a:off x="7726680" y="2834640"/>
            <a:ext cx="3749040" cy="65379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22.2%</a:t>
            </a:r>
            <a:endParaRPr lang="en-US" sz="2200" dirty="0"/>
          </a:p>
        </p:txBody>
      </p:sp>
      <p:sp>
        <p:nvSpPr>
          <p:cNvPr id="11" name="Text 8"/>
          <p:cNvSpPr txBox="1"/>
          <p:nvPr/>
        </p:nvSpPr>
        <p:spPr>
          <a:xfrm>
            <a:off x="7726680" y="3480206"/>
            <a:ext cx="3749040" cy="41605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Compound annual growth rate (CAGR)</a:t>
            </a:r>
            <a:endParaRPr lang="en-US" sz="1050" dirty="0"/>
          </a:p>
        </p:txBody>
      </p:sp>
      <p:sp>
        <p:nvSpPr>
          <p:cNvPr id="12" name="Shape 9"/>
          <p:cNvSpPr/>
          <p:nvPr/>
        </p:nvSpPr>
        <p:spPr>
          <a:xfrm>
            <a:off x="7589520" y="4069080"/>
            <a:ext cx="4023360" cy="1188720"/>
          </a:xfrm>
          <a:prstGeom prst="roundRect">
            <a:avLst>
              <a:gd name="adj" fmla="val 6154"/>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3" name="Shape 10"/>
          <p:cNvSpPr/>
          <p:nvPr/>
        </p:nvSpPr>
        <p:spPr>
          <a:xfrm>
            <a:off x="7589520" y="4069080"/>
            <a:ext cx="54864" cy="1188720"/>
          </a:xfrm>
          <a:prstGeom prst="rect">
            <a:avLst/>
          </a:prstGeom>
          <a:solidFill>
            <a:srgbClr val="F4A300"/>
          </a:solidFill>
          <a:ln/>
        </p:spPr>
      </p:sp>
      <p:sp>
        <p:nvSpPr>
          <p:cNvPr id="14" name="Text 11"/>
          <p:cNvSpPr txBox="1"/>
          <p:nvPr/>
        </p:nvSpPr>
        <p:spPr>
          <a:xfrm>
            <a:off x="7726680" y="4160520"/>
            <a:ext cx="3749040" cy="65379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2019’20</a:t>
            </a:r>
            <a:endParaRPr lang="en-US" sz="2200" dirty="0"/>
          </a:p>
        </p:txBody>
      </p:sp>
      <p:sp>
        <p:nvSpPr>
          <p:cNvPr id="15" name="Text 12"/>
          <p:cNvSpPr txBox="1"/>
          <p:nvPr/>
        </p:nvSpPr>
        <p:spPr>
          <a:xfrm>
            <a:off x="7726680" y="4806086"/>
            <a:ext cx="3749040" cy="41605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Steepest single-year jump (+35%)</a:t>
            </a:r>
            <a:endParaRPr lang="en-US" sz="1050" dirty="0"/>
          </a:p>
        </p:txBody>
      </p:sp>
      <p:sp>
        <p:nvSpPr>
          <p:cNvPr id="16" name="Text 13"/>
          <p:cNvSpPr/>
          <p:nvPr/>
        </p:nvSpPr>
        <p:spPr>
          <a:xfrm>
            <a:off x="7589520" y="5394960"/>
            <a:ext cx="4023360" cy="822960"/>
          </a:xfrm>
          <a:prstGeom prst="rect">
            <a:avLst/>
          </a:prstGeom>
          <a:noFill/>
          <a:ln/>
        </p:spPr>
        <p:txBody>
          <a:bodyPr wrap="square" rtlCol="0" anchor="ctr"/>
          <a:lstStyle/>
          <a:p>
            <a:pPr marL="0" indent="0">
              <a:lnSpc>
                <a:spcPts val="1500"/>
              </a:lnSpc>
              <a:buNone/>
            </a:pPr>
            <a:r>
              <a:rPr lang="en-US" sz="1150" i="1" dirty="0">
                <a:solidFill>
                  <a:srgbClr val="6B7785"/>
                </a:solidFill>
                <a:latin typeface="Calibri" pitchFamily="34" charset="0"/>
                <a:ea typeface="Calibri" pitchFamily="34" charset="-122"/>
                <a:cs typeface="Calibri" pitchFamily="34" charset="-120"/>
              </a:rPr>
              <a:t>Demand is accelerating faster than headcount — agent count has stayed near 50 while ticket volume more than doubled.</a:t>
            </a:r>
            <a:endParaRPr lang="en-US" sz="1150" dirty="0"/>
          </a:p>
        </p:txBody>
      </p:sp>
      <p:sp>
        <p:nvSpPr>
          <p:cNvPr id="17" name="Text 14"/>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8" name="Text 15"/>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Agent Workload &amp; Demographics</a:t>
            </a:r>
            <a:endParaRPr lang="en-US" sz="3000" dirty="0"/>
          </a:p>
        </p:txBody>
      </p:sp>
      <p:graphicFrame>
        <p:nvGraphicFramePr>
          <p:cNvPr id="3" name="Chart 0"/>
          <p:cNvGraphicFramePr/>
          <p:nvPr/>
        </p:nvGraphicFramePr>
        <p:xfrm>
          <a:off x="548640" y="1280160"/>
          <a:ext cx="6309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132320" y="1280160"/>
            <a:ext cx="448056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5" name="Shape 2"/>
          <p:cNvSpPr/>
          <p:nvPr/>
        </p:nvSpPr>
        <p:spPr>
          <a:xfrm>
            <a:off x="7132320" y="1280160"/>
            <a:ext cx="54864" cy="960120"/>
          </a:xfrm>
          <a:prstGeom prst="rect">
            <a:avLst/>
          </a:prstGeom>
          <a:solidFill>
            <a:srgbClr val="1B2A4A"/>
          </a:solidFill>
          <a:ln/>
        </p:spPr>
      </p:sp>
      <p:sp>
        <p:nvSpPr>
          <p:cNvPr id="6" name="Text 3"/>
          <p:cNvSpPr txBox="1"/>
          <p:nvPr/>
        </p:nvSpPr>
        <p:spPr>
          <a:xfrm>
            <a:off x="7269480" y="1371600"/>
            <a:ext cx="420624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50 agents</a:t>
            </a:r>
            <a:endParaRPr lang="en-US" sz="2200" dirty="0"/>
          </a:p>
        </p:txBody>
      </p:sp>
      <p:sp>
        <p:nvSpPr>
          <p:cNvPr id="7" name="Text 4"/>
          <p:cNvSpPr txBox="1"/>
          <p:nvPr/>
        </p:nvSpPr>
        <p:spPr>
          <a:xfrm>
            <a:off x="7269480" y="1875434"/>
            <a:ext cx="420624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handling the full ticket load, avg. age 41</a:t>
            </a:r>
            <a:endParaRPr lang="en-US" sz="1050" dirty="0"/>
          </a:p>
        </p:txBody>
      </p:sp>
      <p:sp>
        <p:nvSpPr>
          <p:cNvPr id="8" name="Shape 5"/>
          <p:cNvSpPr/>
          <p:nvPr/>
        </p:nvSpPr>
        <p:spPr>
          <a:xfrm>
            <a:off x="7132320" y="2377440"/>
            <a:ext cx="448056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9" name="Shape 6"/>
          <p:cNvSpPr/>
          <p:nvPr/>
        </p:nvSpPr>
        <p:spPr>
          <a:xfrm>
            <a:off x="7132320" y="2377440"/>
            <a:ext cx="54864" cy="960120"/>
          </a:xfrm>
          <a:prstGeom prst="rect">
            <a:avLst/>
          </a:prstGeom>
          <a:solidFill>
            <a:srgbClr val="F4A300"/>
          </a:solidFill>
          <a:ln/>
        </p:spPr>
      </p:sp>
      <p:sp>
        <p:nvSpPr>
          <p:cNvPr id="10" name="Text 7"/>
          <p:cNvSpPr txBox="1"/>
          <p:nvPr/>
        </p:nvSpPr>
        <p:spPr>
          <a:xfrm>
            <a:off x="7269480" y="2468880"/>
            <a:ext cx="420624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 1,950</a:t>
            </a:r>
            <a:endParaRPr lang="en-US" sz="2200" dirty="0"/>
          </a:p>
        </p:txBody>
      </p:sp>
      <p:sp>
        <p:nvSpPr>
          <p:cNvPr id="11" name="Text 8"/>
          <p:cNvSpPr txBox="1"/>
          <p:nvPr/>
        </p:nvSpPr>
        <p:spPr>
          <a:xfrm>
            <a:off x="7269480" y="2972714"/>
            <a:ext cx="420624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tickets handled per agent on average</a:t>
            </a:r>
            <a:endParaRPr lang="en-US" sz="1050" dirty="0"/>
          </a:p>
        </p:txBody>
      </p:sp>
      <p:sp>
        <p:nvSpPr>
          <p:cNvPr id="12" name="Shape 9"/>
          <p:cNvSpPr/>
          <p:nvPr/>
        </p:nvSpPr>
        <p:spPr>
          <a:xfrm>
            <a:off x="7132320" y="3474720"/>
            <a:ext cx="4480560" cy="960120"/>
          </a:xfrm>
          <a:prstGeom prst="roundRect">
            <a:avLst>
              <a:gd name="adj" fmla="val 7619"/>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3" name="Shape 10"/>
          <p:cNvSpPr/>
          <p:nvPr/>
        </p:nvSpPr>
        <p:spPr>
          <a:xfrm>
            <a:off x="7132320" y="3474720"/>
            <a:ext cx="54864" cy="960120"/>
          </a:xfrm>
          <a:prstGeom prst="rect">
            <a:avLst/>
          </a:prstGeom>
          <a:solidFill>
            <a:srgbClr val="2E86AB"/>
          </a:solidFill>
          <a:ln/>
        </p:spPr>
      </p:sp>
      <p:sp>
        <p:nvSpPr>
          <p:cNvPr id="14" name="Text 11"/>
          <p:cNvSpPr txBox="1"/>
          <p:nvPr/>
        </p:nvSpPr>
        <p:spPr>
          <a:xfrm>
            <a:off x="7269480" y="3566160"/>
            <a:ext cx="4206240" cy="528066"/>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42,840</a:t>
            </a:r>
            <a:endParaRPr lang="en-US" sz="2200" dirty="0"/>
          </a:p>
        </p:txBody>
      </p:sp>
      <p:sp>
        <p:nvSpPr>
          <p:cNvPr id="15" name="Text 12"/>
          <p:cNvSpPr txBox="1"/>
          <p:nvPr/>
        </p:nvSpPr>
        <p:spPr>
          <a:xfrm>
            <a:off x="7269480" y="4069994"/>
            <a:ext cx="4206240" cy="336042"/>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tickets (44% of all volume) handled by the 41–50 age bracket — the heaviest-loaded group</a:t>
            </a:r>
            <a:endParaRPr lang="en-US" sz="1050" dirty="0"/>
          </a:p>
        </p:txBody>
      </p:sp>
      <p:sp>
        <p:nvSpPr>
          <p:cNvPr id="16" name="Shape 13"/>
          <p:cNvSpPr/>
          <p:nvPr/>
        </p:nvSpPr>
        <p:spPr>
          <a:xfrm>
            <a:off x="7132320" y="4572000"/>
            <a:ext cx="4480560" cy="1234440"/>
          </a:xfrm>
          <a:prstGeom prst="roundRect">
            <a:avLst>
              <a:gd name="adj" fmla="val 5926"/>
            </a:avLst>
          </a:prstGeom>
          <a:solidFill>
            <a:srgbClr val="FFFFFF"/>
          </a:solidFill>
          <a:ln w="12700">
            <a:solidFill>
              <a:srgbClr val="D6DEE8"/>
            </a:solidFill>
            <a:prstDash val="solid"/>
          </a:ln>
        </p:spPr>
      </p:sp>
      <p:sp>
        <p:nvSpPr>
          <p:cNvPr id="17" name="Text 14"/>
          <p:cNvSpPr/>
          <p:nvPr/>
        </p:nvSpPr>
        <p:spPr>
          <a:xfrm>
            <a:off x="7315200" y="4709160"/>
            <a:ext cx="4114800" cy="1005840"/>
          </a:xfrm>
          <a:prstGeom prst="rect">
            <a:avLst/>
          </a:prstGeom>
          <a:noFill/>
          <a:ln/>
        </p:spPr>
        <p:txBody>
          <a:bodyPr wrap="square" rtlCol="0" anchor="ctr"/>
          <a:lstStyle/>
          <a:p>
            <a:pPr marL="0" indent="0">
              <a:lnSpc>
                <a:spcPts val="1600"/>
              </a:lnSpc>
              <a:buNone/>
            </a:pPr>
            <a:r>
              <a:rPr lang="en-US" sz="1150" dirty="0">
                <a:solidFill>
                  <a:srgbClr val="1B2A4A"/>
                </a:solidFill>
                <a:latin typeface="Calibri" pitchFamily="34" charset="0"/>
                <a:ea typeface="Calibri" pitchFamily="34" charset="-122"/>
                <a:cs typeface="Calibri" pitchFamily="34" charset="-120"/>
              </a:rPr>
              <a:t>Agents aged 41–50 carry the heaviest workload (44% of tickets) yet post the lowest satisfaction score (4.05) of any age group — worth investigating for burnout or workload balance.</a:t>
            </a:r>
            <a:endParaRPr lang="en-US" sz="1150" dirty="0"/>
          </a:p>
        </p:txBody>
      </p:sp>
      <p:sp>
        <p:nvSpPr>
          <p:cNvPr id="18" name="Text 1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9"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Agent Performance: Who Needs Support</a:t>
            </a:r>
            <a:endParaRPr lang="en-US" sz="3000" dirty="0"/>
          </a:p>
        </p:txBody>
      </p:sp>
      <p:sp>
        <p:nvSpPr>
          <p:cNvPr id="3" name="Text 1"/>
          <p:cNvSpPr/>
          <p:nvPr/>
        </p:nvSpPr>
        <p:spPr>
          <a:xfrm>
            <a:off x="548640" y="1051560"/>
            <a:ext cx="10972800" cy="320040"/>
          </a:xfrm>
          <a:prstGeom prst="rect">
            <a:avLst/>
          </a:prstGeom>
          <a:noFill/>
          <a:ln/>
        </p:spPr>
        <p:txBody>
          <a:bodyPr wrap="square" rtlCol="0" anchor="ctr"/>
          <a:lstStyle/>
          <a:p>
            <a:pPr marL="0" indent="0">
              <a:buNone/>
            </a:pPr>
            <a:r>
              <a:rPr lang="en-US" sz="1250" i="1" dirty="0">
                <a:solidFill>
                  <a:srgbClr val="6B7785"/>
                </a:solidFill>
                <a:latin typeface="Calibri" pitchFamily="34" charset="0"/>
                <a:ea typeface="Calibri" pitchFamily="34" charset="-122"/>
                <a:cs typeface="Calibri" pitchFamily="34" charset="-120"/>
              </a:rPr>
              <a:t>Agents whose resolution time is above average AND satisfaction is below average</a:t>
            </a:r>
            <a:endParaRPr lang="en-US" sz="1250" dirty="0"/>
          </a:p>
        </p:txBody>
      </p:sp>
      <p:graphicFrame>
        <p:nvGraphicFramePr>
          <p:cNvPr id="4" name="Chart 0"/>
          <p:cNvGraphicFramePr/>
          <p:nvPr/>
        </p:nvGraphicFramePr>
        <p:xfrm>
          <a:off x="548640" y="1463040"/>
          <a:ext cx="68580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680960" y="1600200"/>
            <a:ext cx="3931920" cy="36576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What the data shows</a:t>
            </a:r>
            <a:endParaRPr lang="en-US" sz="1500" dirty="0"/>
          </a:p>
        </p:txBody>
      </p:sp>
      <p:sp>
        <p:nvSpPr>
          <p:cNvPr id="6" name="Text 3"/>
          <p:cNvSpPr/>
          <p:nvPr/>
        </p:nvSpPr>
        <p:spPr>
          <a:xfrm>
            <a:off x="7680960" y="2011680"/>
            <a:ext cx="3931920" cy="1280160"/>
          </a:xfrm>
          <a:prstGeom prst="rect">
            <a:avLst/>
          </a:prstGeom>
          <a:noFill/>
          <a:ln/>
        </p:spPr>
        <p:txBody>
          <a:bodyPr wrap="square" rtlCol="0" anchor="ctr"/>
          <a:lstStyle/>
          <a:p>
            <a:pPr marL="0" indent="0">
              <a:lnSpc>
                <a:spcPts val="2000"/>
              </a:lnSpc>
              <a:buNone/>
            </a:pPr>
            <a:r>
              <a:rPr lang="en-US" sz="1300" dirty="0">
                <a:solidFill>
                  <a:srgbClr val="1B2A4A"/>
                </a:solidFill>
                <a:latin typeface="Calibri" pitchFamily="34" charset="0"/>
                <a:ea typeface="Calibri" pitchFamily="34" charset="-122"/>
                <a:cs typeface="Calibri" pitchFamily="34" charset="-120"/>
              </a:rPr>
              <a:t>10 of 50 agents (20%) sit above the 4.55-day average resolution time and below the 4.10 satisfaction average — the clearest candidates for coaching or process support.</a:t>
            </a:r>
            <a:endParaRPr lang="en-US" sz="1300" dirty="0"/>
          </a:p>
        </p:txBody>
      </p:sp>
      <p:sp>
        <p:nvSpPr>
          <p:cNvPr id="7" name="Shape 4"/>
          <p:cNvSpPr/>
          <p:nvPr/>
        </p:nvSpPr>
        <p:spPr>
          <a:xfrm>
            <a:off x="7680960" y="3429000"/>
            <a:ext cx="393192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8" name="Shape 5"/>
          <p:cNvSpPr/>
          <p:nvPr/>
        </p:nvSpPr>
        <p:spPr>
          <a:xfrm>
            <a:off x="7680960" y="3429000"/>
            <a:ext cx="54864" cy="1005840"/>
          </a:xfrm>
          <a:prstGeom prst="rect">
            <a:avLst/>
          </a:prstGeom>
          <a:solidFill>
            <a:srgbClr val="1B2A4A"/>
          </a:solidFill>
          <a:ln/>
        </p:spPr>
      </p:sp>
      <p:sp>
        <p:nvSpPr>
          <p:cNvPr id="9" name="Text 6"/>
          <p:cNvSpPr txBox="1"/>
          <p:nvPr/>
        </p:nvSpPr>
        <p:spPr>
          <a:xfrm>
            <a:off x="7818120" y="3520440"/>
            <a:ext cx="365760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4.55 days</a:t>
            </a:r>
            <a:endParaRPr lang="en-US" sz="2200" dirty="0"/>
          </a:p>
        </p:txBody>
      </p:sp>
      <p:sp>
        <p:nvSpPr>
          <p:cNvPr id="10" name="Text 7"/>
          <p:cNvSpPr txBox="1"/>
          <p:nvPr/>
        </p:nvSpPr>
        <p:spPr>
          <a:xfrm>
            <a:off x="7818120" y="4052621"/>
            <a:ext cx="365760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Company-wide average resolution time (benchmark)</a:t>
            </a:r>
            <a:endParaRPr lang="en-US" sz="1050" dirty="0"/>
          </a:p>
        </p:txBody>
      </p:sp>
      <p:sp>
        <p:nvSpPr>
          <p:cNvPr id="11" name="Shape 8"/>
          <p:cNvSpPr/>
          <p:nvPr/>
        </p:nvSpPr>
        <p:spPr>
          <a:xfrm>
            <a:off x="7680960" y="4572000"/>
            <a:ext cx="393192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2" name="Shape 9"/>
          <p:cNvSpPr/>
          <p:nvPr/>
        </p:nvSpPr>
        <p:spPr>
          <a:xfrm>
            <a:off x="7680960" y="4572000"/>
            <a:ext cx="54864" cy="1005840"/>
          </a:xfrm>
          <a:prstGeom prst="rect">
            <a:avLst/>
          </a:prstGeom>
          <a:solidFill>
            <a:srgbClr val="2E86AB"/>
          </a:solidFill>
          <a:ln/>
        </p:spPr>
      </p:sp>
      <p:sp>
        <p:nvSpPr>
          <p:cNvPr id="13" name="Text 10"/>
          <p:cNvSpPr txBox="1"/>
          <p:nvPr/>
        </p:nvSpPr>
        <p:spPr>
          <a:xfrm>
            <a:off x="7818120" y="4663440"/>
            <a:ext cx="365760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4.10 / 5</a:t>
            </a:r>
            <a:endParaRPr lang="en-US" sz="2200" dirty="0"/>
          </a:p>
        </p:txBody>
      </p:sp>
      <p:sp>
        <p:nvSpPr>
          <p:cNvPr id="14" name="Text 11"/>
          <p:cNvSpPr txBox="1"/>
          <p:nvPr/>
        </p:nvSpPr>
        <p:spPr>
          <a:xfrm>
            <a:off x="7818120" y="5195621"/>
            <a:ext cx="365760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Company-wide average satisfaction (benchmark)</a:t>
            </a:r>
            <a:endParaRPr lang="en-US" sz="1050" dirty="0"/>
          </a:p>
        </p:txBody>
      </p:sp>
      <p:sp>
        <p:nvSpPr>
          <p:cNvPr id="15" name="Text 12"/>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6" name="Text 1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Customer Satisfaction Analysis</a:t>
            </a:r>
            <a:endParaRPr lang="en-US" sz="3000" dirty="0"/>
          </a:p>
        </p:txBody>
      </p:sp>
      <p:graphicFrame>
        <p:nvGraphicFramePr>
          <p:cNvPr id="3" name="Chart 0"/>
          <p:cNvGraphicFramePr/>
          <p:nvPr/>
        </p:nvGraphicFramePr>
        <p:xfrm>
          <a:off x="548640" y="128016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315200" y="1417320"/>
            <a:ext cx="4297680" cy="36576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Key insight</a:t>
            </a:r>
            <a:endParaRPr lang="en-US" sz="1500" dirty="0"/>
          </a:p>
        </p:txBody>
      </p:sp>
      <p:sp>
        <p:nvSpPr>
          <p:cNvPr id="5" name="Text 2"/>
          <p:cNvSpPr/>
          <p:nvPr/>
        </p:nvSpPr>
        <p:spPr>
          <a:xfrm>
            <a:off x="7315200" y="1828800"/>
            <a:ext cx="4297680" cy="1828800"/>
          </a:xfrm>
          <a:prstGeom prst="rect">
            <a:avLst/>
          </a:prstGeom>
          <a:noFill/>
          <a:ln/>
        </p:spPr>
        <p:txBody>
          <a:bodyPr wrap="square" rtlCol="0" anchor="ctr"/>
          <a:lstStyle/>
          <a:p>
            <a:pPr marL="0" indent="0">
              <a:lnSpc>
                <a:spcPts val="2100"/>
              </a:lnSpc>
              <a:buNone/>
            </a:pPr>
            <a:r>
              <a:rPr lang="en-US" sz="1300" dirty="0">
                <a:solidFill>
                  <a:srgbClr val="1B2A4A"/>
                </a:solidFill>
                <a:latin typeface="Calibri" pitchFamily="34" charset="0"/>
                <a:ea typeface="Calibri" pitchFamily="34" charset="-122"/>
                <a:cs typeface="Calibri" pitchFamily="34" charset="-120"/>
              </a:rPr>
              <a:t>Satisfaction stays remarkably flat (4.07–4.17) regardless of ticket severity — customers rate their experience on how they were treated, not on how serious the underlying issue was. This means service quality, not issue type, drives ratings.</a:t>
            </a:r>
            <a:endParaRPr lang="en-US" sz="1300" dirty="0"/>
          </a:p>
        </p:txBody>
      </p:sp>
      <p:sp>
        <p:nvSpPr>
          <p:cNvPr id="6" name="Shape 3"/>
          <p:cNvSpPr/>
          <p:nvPr/>
        </p:nvSpPr>
        <p:spPr>
          <a:xfrm>
            <a:off x="7315200" y="3840480"/>
            <a:ext cx="429768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7" name="Shape 4"/>
          <p:cNvSpPr/>
          <p:nvPr/>
        </p:nvSpPr>
        <p:spPr>
          <a:xfrm>
            <a:off x="7315200" y="3840480"/>
            <a:ext cx="54864" cy="1005840"/>
          </a:xfrm>
          <a:prstGeom prst="rect">
            <a:avLst/>
          </a:prstGeom>
          <a:solidFill>
            <a:srgbClr val="2E86AB"/>
          </a:solidFill>
          <a:ln/>
        </p:spPr>
      </p:sp>
      <p:sp>
        <p:nvSpPr>
          <p:cNvPr id="8" name="Text 5"/>
          <p:cNvSpPr txBox="1"/>
          <p:nvPr/>
        </p:nvSpPr>
        <p:spPr>
          <a:xfrm>
            <a:off x="7452360" y="3931920"/>
            <a:ext cx="402336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4.10 / 5</a:t>
            </a:r>
            <a:endParaRPr lang="en-US" sz="2200" dirty="0"/>
          </a:p>
        </p:txBody>
      </p:sp>
      <p:sp>
        <p:nvSpPr>
          <p:cNvPr id="9" name="Text 6"/>
          <p:cNvSpPr txBox="1"/>
          <p:nvPr/>
        </p:nvSpPr>
        <p:spPr>
          <a:xfrm>
            <a:off x="7452360" y="4464101"/>
            <a:ext cx="402336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Overall average satisfaction across all 97,498 tickets</a:t>
            </a:r>
            <a:endParaRPr lang="en-US" sz="1050" dirty="0"/>
          </a:p>
        </p:txBody>
      </p:sp>
      <p:sp>
        <p:nvSpPr>
          <p:cNvPr id="10" name="Shape 7"/>
          <p:cNvSpPr/>
          <p:nvPr/>
        </p:nvSpPr>
        <p:spPr>
          <a:xfrm>
            <a:off x="7315200" y="4983480"/>
            <a:ext cx="4297680" cy="1005840"/>
          </a:xfrm>
          <a:prstGeom prst="roundRect">
            <a:avLst>
              <a:gd name="adj" fmla="val 7273"/>
            </a:avLst>
          </a:prstGeom>
          <a:solidFill>
            <a:srgbClr val="FFFFFF"/>
          </a:solidFill>
          <a:ln w="12700">
            <a:solidFill>
              <a:srgbClr val="E1E7EF"/>
            </a:solidFill>
            <a:prstDash val="solid"/>
          </a:ln>
          <a:effectLst>
            <a:outerShdw blurRad="76200" dist="25400" dir="5400000" algn="bl" rotWithShape="0">
              <a:srgbClr val="1B2A4A">
                <a:alpha val="12000"/>
              </a:srgbClr>
            </a:outerShdw>
          </a:effectLst>
        </p:spPr>
      </p:sp>
      <p:sp>
        <p:nvSpPr>
          <p:cNvPr id="11" name="Shape 8"/>
          <p:cNvSpPr/>
          <p:nvPr/>
        </p:nvSpPr>
        <p:spPr>
          <a:xfrm>
            <a:off x="7315200" y="4983480"/>
            <a:ext cx="54864" cy="1005840"/>
          </a:xfrm>
          <a:prstGeom prst="rect">
            <a:avLst/>
          </a:prstGeom>
          <a:solidFill>
            <a:srgbClr val="F4A300"/>
          </a:solidFill>
          <a:ln/>
        </p:spPr>
      </p:sp>
      <p:sp>
        <p:nvSpPr>
          <p:cNvPr id="12" name="Text 9"/>
          <p:cNvSpPr txBox="1"/>
          <p:nvPr/>
        </p:nvSpPr>
        <p:spPr>
          <a:xfrm>
            <a:off x="7452360" y="5074920"/>
            <a:ext cx="4023360" cy="553212"/>
          </a:xfrm>
          <a:prstGeom prst="rect">
            <a:avLst/>
          </a:prstGeom>
          <a:noFill/>
          <a:ln/>
        </p:spPr>
        <p:txBody>
          <a:bodyPr wrap="square" lIns="0" tIns="0" rIns="0" bIns="0" rtlCol="0" anchor="b"/>
          <a:lstStyle/>
          <a:p>
            <a:pPr marL="0" indent="0" algn="l">
              <a:buNone/>
            </a:pPr>
            <a:r>
              <a:rPr lang="en-US" sz="2200" b="1" dirty="0">
                <a:solidFill>
                  <a:srgbClr val="1B2A4A"/>
                </a:solidFill>
                <a:latin typeface="Cambria" pitchFamily="34" charset="0"/>
                <a:ea typeface="Cambria" pitchFamily="34" charset="-122"/>
                <a:cs typeface="Cambria" pitchFamily="34" charset="-120"/>
              </a:rPr>
              <a:t>0.10 pts</a:t>
            </a:r>
            <a:endParaRPr lang="en-US" sz="2200" dirty="0"/>
          </a:p>
        </p:txBody>
      </p:sp>
      <p:sp>
        <p:nvSpPr>
          <p:cNvPr id="13" name="Text 10"/>
          <p:cNvSpPr txBox="1"/>
          <p:nvPr/>
        </p:nvSpPr>
        <p:spPr>
          <a:xfrm>
            <a:off x="7452360" y="5607101"/>
            <a:ext cx="4023360" cy="352044"/>
          </a:xfrm>
          <a:prstGeom prst="rect">
            <a:avLst/>
          </a:prstGeom>
          <a:noFill/>
          <a:ln/>
        </p:spPr>
        <p:txBody>
          <a:bodyPr wrap="square" lIns="0" tIns="0" rIns="0" bIns="0" rtlCol="0" anchor="t"/>
          <a:lstStyle/>
          <a:p>
            <a:pPr marL="0" indent="0" algn="l">
              <a:buNone/>
            </a:pPr>
            <a:r>
              <a:rPr lang="en-US" sz="1050" dirty="0">
                <a:solidFill>
                  <a:srgbClr val="6B7785"/>
                </a:solidFill>
                <a:latin typeface="Calibri" pitchFamily="34" charset="0"/>
                <a:ea typeface="Calibri" pitchFamily="34" charset="-122"/>
                <a:cs typeface="Calibri" pitchFamily="34" charset="-120"/>
              </a:rPr>
              <a:t>Widest gap between any two severity levels</a:t>
            </a:r>
            <a:endParaRPr lang="en-US" sz="1050" dirty="0"/>
          </a:p>
        </p:txBody>
      </p:sp>
      <p:sp>
        <p:nvSpPr>
          <p:cNvPr id="14" name="Text 11"/>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5" name="Text 12"/>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Recommendations</a:t>
            </a:r>
            <a:endParaRPr lang="en-US" sz="3000" dirty="0"/>
          </a:p>
        </p:txBody>
      </p:sp>
      <p:sp>
        <p:nvSpPr>
          <p:cNvPr id="3" name="Shape 1"/>
          <p:cNvSpPr/>
          <p:nvPr/>
        </p:nvSpPr>
        <p:spPr>
          <a:xfrm>
            <a:off x="548640" y="1280160"/>
            <a:ext cx="5349240" cy="2423160"/>
          </a:xfrm>
          <a:prstGeom prst="roundRect">
            <a:avLst>
              <a:gd name="adj" fmla="val 3396"/>
            </a:avLst>
          </a:prstGeom>
          <a:solidFill>
            <a:srgbClr val="FFFFFF"/>
          </a:solidFill>
          <a:ln w="12700">
            <a:solidFill>
              <a:srgbClr val="E1E7EF"/>
            </a:solidFill>
            <a:prstDash val="solid"/>
          </a:ln>
          <a:effectLst>
            <a:outerShdw blurRad="63500" dist="25400" dir="5400000" algn="bl" rotWithShape="0">
              <a:srgbClr val="1B2A4A">
                <a:alpha val="10000"/>
              </a:srgbClr>
            </a:outerShdw>
          </a:effectLst>
        </p:spPr>
      </p:sp>
      <p:sp>
        <p:nvSpPr>
          <p:cNvPr id="4" name="Shape 2"/>
          <p:cNvSpPr/>
          <p:nvPr/>
        </p:nvSpPr>
        <p:spPr>
          <a:xfrm>
            <a:off x="548640" y="1280160"/>
            <a:ext cx="73152" cy="2423160"/>
          </a:xfrm>
          <a:prstGeom prst="rect">
            <a:avLst/>
          </a:prstGeom>
          <a:solidFill>
            <a:srgbClr val="2E86AB"/>
          </a:solidFill>
          <a:ln/>
        </p:spPr>
      </p:sp>
      <p:sp>
        <p:nvSpPr>
          <p:cNvPr id="5" name="Text 3"/>
          <p:cNvSpPr/>
          <p:nvPr/>
        </p:nvSpPr>
        <p:spPr>
          <a:xfrm>
            <a:off x="777240" y="1426464"/>
            <a:ext cx="548640" cy="502920"/>
          </a:xfrm>
          <a:prstGeom prst="rect">
            <a:avLst/>
          </a:prstGeom>
          <a:noFill/>
          <a:ln/>
        </p:spPr>
        <p:txBody>
          <a:bodyPr wrap="square" lIns="0" tIns="0" rIns="0" bIns="0" rtlCol="0" anchor="ctr"/>
          <a:lstStyle/>
          <a:p>
            <a:pPr marL="0" indent="0">
              <a:buNone/>
            </a:pPr>
            <a:r>
              <a:rPr lang="en-US" sz="2000" b="1" dirty="0">
                <a:solidFill>
                  <a:srgbClr val="2E86AB"/>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1444752"/>
            <a:ext cx="4343400" cy="45720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Coach the bottom 20% of agents</a:t>
            </a:r>
            <a:endParaRPr lang="en-US" sz="1400" dirty="0"/>
          </a:p>
        </p:txBody>
      </p:sp>
      <p:sp>
        <p:nvSpPr>
          <p:cNvPr id="7" name="Text 5"/>
          <p:cNvSpPr/>
          <p:nvPr/>
        </p:nvSpPr>
        <p:spPr>
          <a:xfrm>
            <a:off x="1371600" y="1938528"/>
            <a:ext cx="4343400" cy="868680"/>
          </a:xfrm>
          <a:prstGeom prst="rect">
            <a:avLst/>
          </a:prstGeom>
          <a:noFill/>
          <a:ln/>
        </p:spPr>
        <p:txBody>
          <a:bodyPr wrap="square" lIns="0" tIns="0" rIns="0" bIns="0" rtlCol="0" anchor="ctr"/>
          <a:lstStyle/>
          <a:p>
            <a:pPr marL="0" indent="0">
              <a:lnSpc>
                <a:spcPts val="1400"/>
              </a:lnSpc>
              <a:buNone/>
            </a:pPr>
            <a:r>
              <a:rPr lang="en-US" sz="1050" dirty="0">
                <a:solidFill>
                  <a:srgbClr val="1B2A4A"/>
                </a:solidFill>
                <a:latin typeface="Calibri" pitchFamily="34" charset="0"/>
                <a:ea typeface="Calibri" pitchFamily="34" charset="-122"/>
                <a:cs typeface="Calibri" pitchFamily="34" charset="-120"/>
              </a:rPr>
              <a:t>Action: Targeted coaching and workload rebalancing for the 10 agents running above-average resolution time and below-average satisfaction.</a:t>
            </a:r>
            <a:endParaRPr lang="en-US" sz="1050" dirty="0"/>
          </a:p>
        </p:txBody>
      </p:sp>
      <p:sp>
        <p:nvSpPr>
          <p:cNvPr id="8" name="Text 6"/>
          <p:cNvSpPr/>
          <p:nvPr/>
        </p:nvSpPr>
        <p:spPr>
          <a:xfrm>
            <a:off x="1371600" y="2816352"/>
            <a:ext cx="4343400" cy="822960"/>
          </a:xfrm>
          <a:prstGeom prst="rect">
            <a:avLst/>
          </a:prstGeom>
          <a:noFill/>
          <a:ln/>
        </p:spPr>
        <p:txBody>
          <a:bodyPr wrap="square" lIns="0" tIns="0" rIns="0" bIns="0" rtlCol="0" anchor="ctr"/>
          <a:lstStyle/>
          <a:p>
            <a:pPr marL="0" indent="0">
              <a:lnSpc>
                <a:spcPts val="1400"/>
              </a:lnSpc>
              <a:buNone/>
            </a:pPr>
            <a:r>
              <a:rPr lang="en-US" sz="1050" b="1" dirty="0">
                <a:solidFill>
                  <a:srgbClr val="2E86AB"/>
                </a:solidFill>
                <a:latin typeface="Calibri" pitchFamily="34" charset="0"/>
                <a:ea typeface="Calibri" pitchFamily="34" charset="-122"/>
                <a:cs typeface="Calibri" pitchFamily="34" charset="-120"/>
              </a:rPr>
              <a:t>Expected impact: closing half their gap to benchmark cuts their avg. resolution time from ~5.4 to ~5.0 days and lifts satisfaction toward the 4.10 company average.</a:t>
            </a:r>
            <a:endParaRPr lang="en-US" sz="1050" dirty="0"/>
          </a:p>
        </p:txBody>
      </p:sp>
      <p:sp>
        <p:nvSpPr>
          <p:cNvPr id="9" name="Shape 7"/>
          <p:cNvSpPr/>
          <p:nvPr/>
        </p:nvSpPr>
        <p:spPr>
          <a:xfrm>
            <a:off x="6172200" y="1280160"/>
            <a:ext cx="5349240" cy="2423160"/>
          </a:xfrm>
          <a:prstGeom prst="roundRect">
            <a:avLst>
              <a:gd name="adj" fmla="val 3396"/>
            </a:avLst>
          </a:prstGeom>
          <a:solidFill>
            <a:srgbClr val="FFFFFF"/>
          </a:solidFill>
          <a:ln w="12700">
            <a:solidFill>
              <a:srgbClr val="E1E7EF"/>
            </a:solidFill>
            <a:prstDash val="solid"/>
          </a:ln>
          <a:effectLst>
            <a:outerShdw blurRad="63500" dist="25400" dir="5400000" algn="bl" rotWithShape="0">
              <a:srgbClr val="1B2A4A">
                <a:alpha val="10000"/>
              </a:srgbClr>
            </a:outerShdw>
          </a:effectLst>
        </p:spPr>
      </p:sp>
      <p:sp>
        <p:nvSpPr>
          <p:cNvPr id="10" name="Shape 8"/>
          <p:cNvSpPr/>
          <p:nvPr/>
        </p:nvSpPr>
        <p:spPr>
          <a:xfrm>
            <a:off x="6172200" y="1280160"/>
            <a:ext cx="73152" cy="2423160"/>
          </a:xfrm>
          <a:prstGeom prst="rect">
            <a:avLst/>
          </a:prstGeom>
          <a:solidFill>
            <a:srgbClr val="F4A300"/>
          </a:solidFill>
          <a:ln/>
        </p:spPr>
      </p:sp>
      <p:sp>
        <p:nvSpPr>
          <p:cNvPr id="11" name="Text 9"/>
          <p:cNvSpPr/>
          <p:nvPr/>
        </p:nvSpPr>
        <p:spPr>
          <a:xfrm>
            <a:off x="6400800" y="1426464"/>
            <a:ext cx="548640" cy="502920"/>
          </a:xfrm>
          <a:prstGeom prst="rect">
            <a:avLst/>
          </a:prstGeom>
          <a:noFill/>
          <a:ln/>
        </p:spPr>
        <p:txBody>
          <a:bodyPr wrap="square" lIns="0" tIns="0" rIns="0" bIns="0" rtlCol="0" anchor="ctr"/>
          <a:lstStyle/>
          <a:p>
            <a:pPr marL="0" indent="0">
              <a:buNone/>
            </a:pPr>
            <a:r>
              <a:rPr lang="en-US" sz="2000" b="1" dirty="0">
                <a:solidFill>
                  <a:srgbClr val="F4A300"/>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6995160" y="1444752"/>
            <a:ext cx="4343400" cy="45720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Prioritize Hardware &amp; System fixes</a:t>
            </a:r>
            <a:endParaRPr lang="en-US" sz="1400" dirty="0"/>
          </a:p>
        </p:txBody>
      </p:sp>
      <p:sp>
        <p:nvSpPr>
          <p:cNvPr id="13" name="Text 11"/>
          <p:cNvSpPr/>
          <p:nvPr/>
        </p:nvSpPr>
        <p:spPr>
          <a:xfrm>
            <a:off x="6995160" y="1938528"/>
            <a:ext cx="4343400" cy="868680"/>
          </a:xfrm>
          <a:prstGeom prst="rect">
            <a:avLst/>
          </a:prstGeom>
          <a:noFill/>
          <a:ln/>
        </p:spPr>
        <p:txBody>
          <a:bodyPr wrap="square" lIns="0" tIns="0" rIns="0" bIns="0" rtlCol="0" anchor="ctr"/>
          <a:lstStyle/>
          <a:p>
            <a:pPr marL="0" indent="0">
              <a:lnSpc>
                <a:spcPts val="1400"/>
              </a:lnSpc>
              <a:buNone/>
            </a:pPr>
            <a:r>
              <a:rPr lang="en-US" sz="1050" dirty="0">
                <a:solidFill>
                  <a:srgbClr val="1B2A4A"/>
                </a:solidFill>
                <a:latin typeface="Calibri" pitchFamily="34" charset="0"/>
                <a:ea typeface="Calibri" pitchFamily="34" charset="-122"/>
                <a:cs typeface="Calibri" pitchFamily="34" charset="-120"/>
              </a:rPr>
              <a:t>Action: Streamline parts availability and escalation paths for Hardware (7.6-day avg) and System (6.6-day avg), the two slowest categories.</a:t>
            </a:r>
            <a:endParaRPr lang="en-US" sz="1050" dirty="0"/>
          </a:p>
        </p:txBody>
      </p:sp>
      <p:sp>
        <p:nvSpPr>
          <p:cNvPr id="14" name="Text 12"/>
          <p:cNvSpPr/>
          <p:nvPr/>
        </p:nvSpPr>
        <p:spPr>
          <a:xfrm>
            <a:off x="6995160" y="2816352"/>
            <a:ext cx="4343400" cy="822960"/>
          </a:xfrm>
          <a:prstGeom prst="rect">
            <a:avLst/>
          </a:prstGeom>
          <a:noFill/>
          <a:ln/>
        </p:spPr>
        <p:txBody>
          <a:bodyPr wrap="square" lIns="0" tIns="0" rIns="0" bIns="0" rtlCol="0" anchor="ctr"/>
          <a:lstStyle/>
          <a:p>
            <a:pPr marL="0" indent="0">
              <a:lnSpc>
                <a:spcPts val="1400"/>
              </a:lnSpc>
              <a:buNone/>
            </a:pPr>
            <a:r>
              <a:rPr lang="en-US" sz="1050" b="1" dirty="0">
                <a:solidFill>
                  <a:srgbClr val="F4A300"/>
                </a:solidFill>
                <a:latin typeface="Calibri" pitchFamily="34" charset="0"/>
                <a:ea typeface="Calibri" pitchFamily="34" charset="-122"/>
                <a:cs typeface="Calibri" pitchFamily="34" charset="-120"/>
              </a:rPr>
              <a:t>Expected impact: a 1-day cut in Hardware's resolution time alone removes ≈ 9,700 ticket-days of backlog per year.</a:t>
            </a:r>
            <a:endParaRPr lang="en-US" sz="1050" dirty="0"/>
          </a:p>
        </p:txBody>
      </p:sp>
      <p:sp>
        <p:nvSpPr>
          <p:cNvPr id="15" name="Shape 13"/>
          <p:cNvSpPr/>
          <p:nvPr/>
        </p:nvSpPr>
        <p:spPr>
          <a:xfrm>
            <a:off x="548640" y="3886200"/>
            <a:ext cx="5349240" cy="2423160"/>
          </a:xfrm>
          <a:prstGeom prst="roundRect">
            <a:avLst>
              <a:gd name="adj" fmla="val 3396"/>
            </a:avLst>
          </a:prstGeom>
          <a:solidFill>
            <a:srgbClr val="FFFFFF"/>
          </a:solidFill>
          <a:ln w="12700">
            <a:solidFill>
              <a:srgbClr val="E1E7EF"/>
            </a:solidFill>
            <a:prstDash val="solid"/>
          </a:ln>
          <a:effectLst>
            <a:outerShdw blurRad="63500" dist="25400" dir="5400000" algn="bl" rotWithShape="0">
              <a:srgbClr val="1B2A4A">
                <a:alpha val="10000"/>
              </a:srgbClr>
            </a:outerShdw>
          </a:effectLst>
        </p:spPr>
      </p:sp>
      <p:sp>
        <p:nvSpPr>
          <p:cNvPr id="16" name="Shape 14"/>
          <p:cNvSpPr/>
          <p:nvPr/>
        </p:nvSpPr>
        <p:spPr>
          <a:xfrm>
            <a:off x="548640" y="3886200"/>
            <a:ext cx="73152" cy="2423160"/>
          </a:xfrm>
          <a:prstGeom prst="rect">
            <a:avLst/>
          </a:prstGeom>
          <a:solidFill>
            <a:srgbClr val="1B2A4A"/>
          </a:solidFill>
          <a:ln/>
        </p:spPr>
      </p:sp>
      <p:sp>
        <p:nvSpPr>
          <p:cNvPr id="17" name="Text 15"/>
          <p:cNvSpPr/>
          <p:nvPr/>
        </p:nvSpPr>
        <p:spPr>
          <a:xfrm>
            <a:off x="777240" y="4032504"/>
            <a:ext cx="548640" cy="502920"/>
          </a:xfrm>
          <a:prstGeom prst="rect">
            <a:avLst/>
          </a:prstGeom>
          <a:noFill/>
          <a:ln/>
        </p:spPr>
        <p:txBody>
          <a:bodyPr wrap="square" lIns="0" tIns="0" rIns="0" bIns="0" rtlCol="0" anchor="ctr"/>
          <a:lstStyle/>
          <a:p>
            <a:pPr marL="0" indent="0">
              <a:buNone/>
            </a:pPr>
            <a:r>
              <a:rPr lang="en-US" sz="2000" b="1" dirty="0">
                <a:solidFill>
                  <a:srgbClr val="1B2A4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371600" y="4050792"/>
            <a:ext cx="4343400" cy="45720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Standardize severity tagging</a:t>
            </a:r>
            <a:endParaRPr lang="en-US" sz="1400" dirty="0"/>
          </a:p>
        </p:txBody>
      </p:sp>
      <p:sp>
        <p:nvSpPr>
          <p:cNvPr id="19" name="Text 17"/>
          <p:cNvSpPr/>
          <p:nvPr/>
        </p:nvSpPr>
        <p:spPr>
          <a:xfrm>
            <a:off x="1371600" y="4544568"/>
            <a:ext cx="4343400" cy="868680"/>
          </a:xfrm>
          <a:prstGeom prst="rect">
            <a:avLst/>
          </a:prstGeom>
          <a:noFill/>
          <a:ln/>
        </p:spPr>
        <p:txBody>
          <a:bodyPr wrap="square" lIns="0" tIns="0" rIns="0" bIns="0" rtlCol="0" anchor="ctr"/>
          <a:lstStyle/>
          <a:p>
            <a:pPr marL="0" indent="0">
              <a:lnSpc>
                <a:spcPts val="1400"/>
              </a:lnSpc>
              <a:buNone/>
            </a:pPr>
            <a:r>
              <a:rPr lang="en-US" sz="1050" dirty="0">
                <a:solidFill>
                  <a:srgbClr val="1B2A4A"/>
                </a:solidFill>
                <a:latin typeface="Calibri" pitchFamily="34" charset="0"/>
                <a:ea typeface="Calibri" pitchFamily="34" charset="-122"/>
                <a:cs typeface="Calibri" pitchFamily="34" charset="-120"/>
              </a:rPr>
              <a:t>Action: Define clear criteria for Minor / Normal / Major / Urgent — severity currently shows almost no link to resolution time (r = −0.04), and 91% of tickets sit in “Normal” by default.</a:t>
            </a:r>
            <a:endParaRPr lang="en-US" sz="1050" dirty="0"/>
          </a:p>
        </p:txBody>
      </p:sp>
      <p:sp>
        <p:nvSpPr>
          <p:cNvPr id="20" name="Text 18"/>
          <p:cNvSpPr/>
          <p:nvPr/>
        </p:nvSpPr>
        <p:spPr>
          <a:xfrm>
            <a:off x="1371600" y="5422392"/>
            <a:ext cx="4343400" cy="822960"/>
          </a:xfrm>
          <a:prstGeom prst="rect">
            <a:avLst/>
          </a:prstGeom>
          <a:noFill/>
          <a:ln/>
        </p:spPr>
        <p:txBody>
          <a:bodyPr wrap="square" lIns="0" tIns="0" rIns="0" bIns="0" rtlCol="0" anchor="ctr"/>
          <a:lstStyle/>
          <a:p>
            <a:pPr marL="0" indent="0">
              <a:lnSpc>
                <a:spcPts val="1400"/>
              </a:lnSpc>
              <a:buNone/>
            </a:pPr>
            <a:r>
              <a:rPr lang="en-US" sz="1050" b="1" dirty="0">
                <a:solidFill>
                  <a:srgbClr val="1B2A4A"/>
                </a:solidFill>
                <a:latin typeface="Calibri" pitchFamily="34" charset="0"/>
                <a:ea typeface="Calibri" pitchFamily="34" charset="-122"/>
                <a:cs typeface="Calibri" pitchFamily="34" charset="-120"/>
              </a:rPr>
              <a:t>Expected impact: Major-tagged tickets already resolve 0.75 days faster than Normal-tagged ones (3.91 vs 4.66 days) — correctly flagging true priority cases inside the 88,656-ticket Normal bucket could extend that speed-up, cutting backlog risk with zero added headcount.</a:t>
            </a:r>
            <a:endParaRPr lang="en-US" sz="1050" dirty="0"/>
          </a:p>
        </p:txBody>
      </p:sp>
      <p:sp>
        <p:nvSpPr>
          <p:cNvPr id="21" name="Shape 19"/>
          <p:cNvSpPr/>
          <p:nvPr/>
        </p:nvSpPr>
        <p:spPr>
          <a:xfrm>
            <a:off x="6172200" y="3886200"/>
            <a:ext cx="5349240" cy="2423160"/>
          </a:xfrm>
          <a:prstGeom prst="roundRect">
            <a:avLst>
              <a:gd name="adj" fmla="val 3396"/>
            </a:avLst>
          </a:prstGeom>
          <a:solidFill>
            <a:srgbClr val="FFFFFF"/>
          </a:solidFill>
          <a:ln w="12700">
            <a:solidFill>
              <a:srgbClr val="E1E7EF"/>
            </a:solidFill>
            <a:prstDash val="solid"/>
          </a:ln>
          <a:effectLst>
            <a:outerShdw blurRad="63500" dist="25400" dir="5400000" algn="bl" rotWithShape="0">
              <a:srgbClr val="1B2A4A">
                <a:alpha val="10000"/>
              </a:srgbClr>
            </a:outerShdw>
          </a:effectLst>
        </p:spPr>
      </p:sp>
      <p:sp>
        <p:nvSpPr>
          <p:cNvPr id="22" name="Shape 20"/>
          <p:cNvSpPr/>
          <p:nvPr/>
        </p:nvSpPr>
        <p:spPr>
          <a:xfrm>
            <a:off x="6172200" y="3886200"/>
            <a:ext cx="73152" cy="2423160"/>
          </a:xfrm>
          <a:prstGeom prst="rect">
            <a:avLst/>
          </a:prstGeom>
          <a:solidFill>
            <a:srgbClr val="3E9C63"/>
          </a:solidFill>
          <a:ln/>
        </p:spPr>
      </p:sp>
      <p:sp>
        <p:nvSpPr>
          <p:cNvPr id="23" name="Text 21"/>
          <p:cNvSpPr/>
          <p:nvPr/>
        </p:nvSpPr>
        <p:spPr>
          <a:xfrm>
            <a:off x="6400800" y="4032504"/>
            <a:ext cx="548640" cy="502920"/>
          </a:xfrm>
          <a:prstGeom prst="rect">
            <a:avLst/>
          </a:prstGeom>
          <a:noFill/>
          <a:ln/>
        </p:spPr>
        <p:txBody>
          <a:bodyPr wrap="square" lIns="0" tIns="0" rIns="0" bIns="0" rtlCol="0" anchor="ctr"/>
          <a:lstStyle/>
          <a:p>
            <a:pPr marL="0" indent="0">
              <a:buNone/>
            </a:pPr>
            <a:r>
              <a:rPr lang="en-US" sz="2000" b="1" dirty="0">
                <a:solidFill>
                  <a:srgbClr val="3E9C63"/>
                </a:solidFill>
                <a:latin typeface="Cambria" pitchFamily="34" charset="0"/>
                <a:ea typeface="Cambria" pitchFamily="34" charset="-122"/>
                <a:cs typeface="Cambria" pitchFamily="34" charset="-120"/>
              </a:rPr>
              <a:t>4</a:t>
            </a:r>
            <a:endParaRPr lang="en-US" sz="2000" dirty="0"/>
          </a:p>
        </p:txBody>
      </p:sp>
      <p:sp>
        <p:nvSpPr>
          <p:cNvPr id="24" name="Text 22"/>
          <p:cNvSpPr/>
          <p:nvPr/>
        </p:nvSpPr>
        <p:spPr>
          <a:xfrm>
            <a:off x="6995160" y="4050792"/>
            <a:ext cx="4343400" cy="45720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Scale staffing ahead of demand</a:t>
            </a:r>
            <a:endParaRPr lang="en-US" sz="1400" dirty="0"/>
          </a:p>
        </p:txBody>
      </p:sp>
      <p:sp>
        <p:nvSpPr>
          <p:cNvPr id="25" name="Text 23"/>
          <p:cNvSpPr/>
          <p:nvPr/>
        </p:nvSpPr>
        <p:spPr>
          <a:xfrm>
            <a:off x="6995160" y="4544568"/>
            <a:ext cx="4343400" cy="868680"/>
          </a:xfrm>
          <a:prstGeom prst="rect">
            <a:avLst/>
          </a:prstGeom>
          <a:noFill/>
          <a:ln/>
        </p:spPr>
        <p:txBody>
          <a:bodyPr wrap="square" lIns="0" tIns="0" rIns="0" bIns="0" rtlCol="0" anchor="ctr"/>
          <a:lstStyle/>
          <a:p>
            <a:pPr marL="0" indent="0">
              <a:lnSpc>
                <a:spcPts val="1400"/>
              </a:lnSpc>
              <a:buNone/>
            </a:pPr>
            <a:r>
              <a:rPr lang="en-US" sz="1050" dirty="0">
                <a:solidFill>
                  <a:srgbClr val="1B2A4A"/>
                </a:solidFill>
                <a:latin typeface="Calibri" pitchFamily="34" charset="0"/>
                <a:ea typeface="Calibri" pitchFamily="34" charset="-122"/>
                <a:cs typeface="Calibri" pitchFamily="34" charset="-120"/>
              </a:rPr>
              <a:t>Action: Plan hiring or automation in line with the 22.2% CAGR in ticket volume, rather than holding headcount near 50.</a:t>
            </a:r>
            <a:endParaRPr lang="en-US" sz="1050" dirty="0"/>
          </a:p>
        </p:txBody>
      </p:sp>
      <p:sp>
        <p:nvSpPr>
          <p:cNvPr id="26" name="Text 24"/>
          <p:cNvSpPr/>
          <p:nvPr/>
        </p:nvSpPr>
        <p:spPr>
          <a:xfrm>
            <a:off x="6995160" y="5422392"/>
            <a:ext cx="4343400" cy="822960"/>
          </a:xfrm>
          <a:prstGeom prst="rect">
            <a:avLst/>
          </a:prstGeom>
          <a:noFill/>
          <a:ln/>
        </p:spPr>
        <p:txBody>
          <a:bodyPr wrap="square" lIns="0" tIns="0" rIns="0" bIns="0" rtlCol="0" anchor="ctr"/>
          <a:lstStyle/>
          <a:p>
            <a:pPr marL="0" indent="0">
              <a:lnSpc>
                <a:spcPts val="1400"/>
              </a:lnSpc>
              <a:buNone/>
            </a:pPr>
            <a:r>
              <a:rPr lang="en-US" sz="1050" b="1" dirty="0">
                <a:solidFill>
                  <a:srgbClr val="3E9C63"/>
                </a:solidFill>
                <a:latin typeface="Calibri" pitchFamily="34" charset="0"/>
                <a:ea typeface="Calibri" pitchFamily="34" charset="-122"/>
                <a:cs typeface="Calibri" pitchFamily="34" charset="-120"/>
              </a:rPr>
              <a:t>Expected impact: keeps per-agent load near today's ≈1,950 tickets/year and protects the current 4.10 satisfaction score as volume keeps climbing.</a:t>
            </a:r>
            <a:endParaRPr lang="en-US" sz="1050" dirty="0"/>
          </a:p>
        </p:txBody>
      </p:sp>
      <p:sp>
        <p:nvSpPr>
          <p:cNvPr id="27" name="Text 2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28" name="Text 2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Interactive Performance Dashboard</a:t>
            </a:r>
            <a:endParaRPr lang="en-US" sz="3000" dirty="0"/>
          </a:p>
        </p:txBody>
      </p:sp>
      <p:sp>
        <p:nvSpPr>
          <p:cNvPr id="3" name="Text 1"/>
          <p:cNvSpPr/>
          <p:nvPr/>
        </p:nvSpPr>
        <p:spPr>
          <a:xfrm>
            <a:off x="548640" y="1005840"/>
            <a:ext cx="10058400" cy="365760"/>
          </a:xfrm>
          <a:prstGeom prst="rect">
            <a:avLst/>
          </a:prstGeom>
          <a:noFill/>
          <a:ln/>
        </p:spPr>
        <p:txBody>
          <a:bodyPr wrap="square" rtlCol="0" anchor="ctr"/>
          <a:lstStyle/>
          <a:p>
            <a:pPr marL="0" indent="0">
              <a:buNone/>
            </a:pPr>
            <a:r>
              <a:rPr lang="en-US" sz="1300" dirty="0">
                <a:solidFill>
                  <a:srgbClr val="8FA3C4"/>
                </a:solidFill>
                <a:latin typeface="Calibri" pitchFamily="34" charset="0"/>
                <a:ea typeface="Calibri" pitchFamily="34" charset="-122"/>
                <a:cs typeface="Calibri" pitchFamily="34" charset="-120"/>
              </a:rPr>
              <a:t>Live workbook dashboard — pivot tables, pivot charts, and five slicers, all wired together</a:t>
            </a:r>
            <a:endParaRPr lang="en-US" sz="1300" dirty="0"/>
          </a:p>
        </p:txBody>
      </p:sp>
      <p:sp>
        <p:nvSpPr>
          <p:cNvPr id="4" name="Shape 2"/>
          <p:cNvSpPr/>
          <p:nvPr/>
        </p:nvSpPr>
        <p:spPr>
          <a:xfrm>
            <a:off x="411480" y="1463040"/>
            <a:ext cx="11338560" cy="4892040"/>
          </a:xfrm>
          <a:prstGeom prst="roundRect">
            <a:avLst>
              <a:gd name="adj" fmla="val 935"/>
            </a:avLst>
          </a:prstGeom>
          <a:solidFill>
            <a:srgbClr val="FFFFFF"/>
          </a:solidFill>
          <a:ln/>
        </p:spPr>
      </p:sp>
      <p:pic>
        <p:nvPicPr>
          <p:cNvPr id="5" name="Image 0" descr="/mnt/user-data/uploads/1789725885763_image.png"/>
          <p:cNvPicPr>
            <a:picLocks noChangeAspect="1"/>
          </p:cNvPicPr>
          <p:nvPr/>
        </p:nvPicPr>
        <p:blipFill>
          <a:blip r:embed="rId3"/>
          <a:srcRect/>
          <a:stretch/>
        </p:blipFill>
        <p:spPr>
          <a:xfrm>
            <a:off x="2212848" y="1572768"/>
            <a:ext cx="7735824" cy="4709160"/>
          </a:xfrm>
          <a:prstGeom prst="rect">
            <a:avLst/>
          </a:prstGeom>
        </p:spPr>
      </p:pic>
      <p:sp>
        <p:nvSpPr>
          <p:cNvPr id="6" name="Text 3"/>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FA3C4"/>
                </a:solidFill>
                <a:latin typeface="Calibri" pitchFamily="34" charset="0"/>
                <a:ea typeface="Calibri" pitchFamily="34" charset="-122"/>
                <a:cs typeface="Calibri" pitchFamily="34" charset="-120"/>
              </a:rPr>
              <a:t>IT Support Ticket Analysis</a:t>
            </a:r>
            <a:endParaRPr lang="en-US" sz="900" dirty="0"/>
          </a:p>
        </p:txBody>
      </p:sp>
      <p:sp>
        <p:nvSpPr>
          <p:cNvPr id="7" name="Text 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FA3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Dashboard Highlights</a:t>
            </a:r>
            <a:endParaRPr lang="en-US" sz="3000" dirty="0"/>
          </a:p>
        </p:txBody>
      </p:sp>
      <p:sp>
        <p:nvSpPr>
          <p:cNvPr id="3" name="Text 1"/>
          <p:cNvSpPr/>
          <p:nvPr/>
        </p:nvSpPr>
        <p:spPr>
          <a:xfrm>
            <a:off x="548640" y="1234440"/>
            <a:ext cx="6309360" cy="365760"/>
          </a:xfrm>
          <a:prstGeom prst="rect">
            <a:avLst/>
          </a:prstGeom>
          <a:noFill/>
          <a:ln/>
        </p:spPr>
        <p:txBody>
          <a:bodyPr wrap="square"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What the dashboard reveals</a:t>
            </a:r>
            <a:endParaRPr lang="en-US" sz="1600" dirty="0"/>
          </a:p>
        </p:txBody>
      </p:sp>
      <p:sp>
        <p:nvSpPr>
          <p:cNvPr id="4" name="Text 2"/>
          <p:cNvSpPr/>
          <p:nvPr/>
        </p:nvSpPr>
        <p:spPr>
          <a:xfrm>
            <a:off x="548640" y="1645920"/>
            <a:ext cx="6309360" cy="3291840"/>
          </a:xfrm>
          <a:prstGeom prst="rect">
            <a:avLst/>
          </a:prstGeom>
          <a:noFill/>
          <a:ln/>
        </p:spPr>
        <p:txBody>
          <a:bodyPr wrap="square" rtlCol="0" anchor="ctr"/>
          <a:lstStyle/>
          <a:p>
            <a:pPr marL="342900" indent="-342900">
              <a:lnSpc>
                <a:spcPts val="2000"/>
              </a:lnSpc>
              <a:spcAft>
                <a:spcPts val="900"/>
              </a:spcAft>
              <a:buSzPct val="100000"/>
              <a:buChar char="•"/>
            </a:pPr>
            <a:r>
              <a:rPr lang="en-US" sz="1250" dirty="0">
                <a:solidFill>
                  <a:srgbClr val="1B2A4A"/>
                </a:solidFill>
                <a:latin typeface="Calibri" pitchFamily="34" charset="0"/>
                <a:ea typeface="Calibri" pitchFamily="34" charset="-122"/>
                <a:cs typeface="Calibri" pitchFamily="34" charset="-120"/>
              </a:rPr>
              <a:t>80% of tickets are rated 4 or 5 satisfaction (27,562 + 50,770 of 97,498) — service quality is strong overall</a:t>
            </a:r>
            <a:endParaRPr lang="en-US" sz="1250" dirty="0"/>
          </a:p>
          <a:p>
            <a:pPr marL="342900" indent="-342900">
              <a:lnSpc>
                <a:spcPts val="2000"/>
              </a:lnSpc>
              <a:spcAft>
                <a:spcPts val="900"/>
              </a:spcAft>
              <a:buSzPct val="100000"/>
              <a:buChar char="•"/>
            </a:pPr>
            <a:r>
              <a:rPr lang="en-US" sz="1250" dirty="0">
                <a:solidFill>
                  <a:srgbClr val="1B2A4A"/>
                </a:solidFill>
                <a:latin typeface="Calibri" pitchFamily="34" charset="0"/>
                <a:ea typeface="Calibri" pitchFamily="34" charset="-122"/>
                <a:cs typeface="Calibri" pitchFamily="34" charset="-120"/>
              </a:rPr>
              <a:t>89.8% of tickets close within 10 days (40,814 in 0–2 days, 19,908 in 3–5, 26,872 in 6–10 — 87,594 of 97,498) — only 2 tickets ever exceed 21 days</a:t>
            </a:r>
            <a:endParaRPr lang="en-US" sz="1250" dirty="0"/>
          </a:p>
          <a:p>
            <a:pPr marL="342900" indent="-342900">
              <a:lnSpc>
                <a:spcPts val="2000"/>
              </a:lnSpc>
              <a:spcAft>
                <a:spcPts val="900"/>
              </a:spcAft>
              <a:buSzPct val="100000"/>
              <a:buChar char="•"/>
            </a:pPr>
            <a:r>
              <a:rPr lang="en-US" sz="1250" dirty="0">
                <a:solidFill>
                  <a:srgbClr val="1B2A4A"/>
                </a:solidFill>
                <a:latin typeface="Calibri" pitchFamily="34" charset="0"/>
                <a:ea typeface="Calibri" pitchFamily="34" charset="-122"/>
                <a:cs typeface="Calibri" pitchFamily="34" charset="-120"/>
              </a:rPr>
              <a:t>Resolution time by category is flat over the full 2016–2020 span — Hardware stays ≈7–8 days and Login Access ≈0.3 days year after year, so there's no seasonal or year-over-year improvement to rely on</a:t>
            </a:r>
            <a:endParaRPr lang="en-US" sz="1250" dirty="0"/>
          </a:p>
          <a:p>
            <a:pPr marL="342900" indent="-342900">
              <a:lnSpc>
                <a:spcPts val="2000"/>
              </a:lnSpc>
              <a:spcAft>
                <a:spcPts val="900"/>
              </a:spcAft>
              <a:buSzPct val="100000"/>
              <a:buChar char="•"/>
            </a:pPr>
            <a:r>
              <a:rPr lang="en-US" sz="1250" dirty="0">
                <a:solidFill>
                  <a:srgbClr val="1B2A4A"/>
                </a:solidFill>
                <a:latin typeface="Calibri" pitchFamily="34" charset="0"/>
                <a:ea typeface="Calibri" pitchFamily="34" charset="-122"/>
                <a:cs typeface="Calibri" pitchFamily="34" charset="-120"/>
              </a:rPr>
              <a:t>The agent table (right panel) ranks every one of the 50 agents by ticket count, resolution time, and satisfaction — the same data used on the training-needs slide</a:t>
            </a:r>
            <a:endParaRPr lang="en-US" sz="1250" dirty="0"/>
          </a:p>
        </p:txBody>
      </p:sp>
      <p:sp>
        <p:nvSpPr>
          <p:cNvPr id="5" name="Shape 3"/>
          <p:cNvSpPr/>
          <p:nvPr/>
        </p:nvSpPr>
        <p:spPr>
          <a:xfrm>
            <a:off x="7315200" y="1234440"/>
            <a:ext cx="4297680" cy="4937760"/>
          </a:xfrm>
          <a:prstGeom prst="roundRect">
            <a:avLst>
              <a:gd name="adj" fmla="val 2128"/>
            </a:avLst>
          </a:prstGeom>
          <a:solidFill>
            <a:srgbClr val="1B2A4A"/>
          </a:solidFill>
          <a:ln/>
        </p:spPr>
      </p:sp>
      <p:sp>
        <p:nvSpPr>
          <p:cNvPr id="6" name="Text 4"/>
          <p:cNvSpPr/>
          <p:nvPr/>
        </p:nvSpPr>
        <p:spPr>
          <a:xfrm>
            <a:off x="7589520" y="1508760"/>
            <a:ext cx="3749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Interactive features</a:t>
            </a:r>
            <a:endParaRPr lang="en-US" sz="1600" dirty="0"/>
          </a:p>
        </p:txBody>
      </p:sp>
      <p:sp>
        <p:nvSpPr>
          <p:cNvPr id="7" name="Text 5"/>
          <p:cNvSpPr/>
          <p:nvPr/>
        </p:nvSpPr>
        <p:spPr>
          <a:xfrm>
            <a:off x="7589520" y="1920240"/>
            <a:ext cx="3794760" cy="2286000"/>
          </a:xfrm>
          <a:prstGeom prst="rect">
            <a:avLst/>
          </a:prstGeom>
          <a:noFill/>
          <a:ln/>
        </p:spPr>
        <p:txBody>
          <a:bodyPr wrap="square" rtlCol="0" anchor="ctr"/>
          <a:lstStyle/>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Slicers for Year, Request Category, Severity, Priority, and Agent Name</a:t>
            </a:r>
            <a:endParaRPr lang="en-US" sz="1250" dirty="0"/>
          </a:p>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Every chart and KPI card updates together on any filter</a:t>
            </a:r>
            <a:endParaRPr lang="en-US" sz="1250" dirty="0"/>
          </a:p>
          <a:p>
            <a:pPr marL="342900" indent="-342900">
              <a:lnSpc>
                <a:spcPts val="2000"/>
              </a:lnSpc>
              <a:spcAft>
                <a:spcPts val="1000"/>
              </a:spcAft>
              <a:buSzPct val="100000"/>
              <a:buChar char="✓"/>
            </a:pPr>
            <a:r>
              <a:rPr lang="en-US" sz="1250" dirty="0">
                <a:solidFill>
                  <a:srgbClr val="CFE3EE"/>
                </a:solidFill>
                <a:latin typeface="Calibri" pitchFamily="34" charset="0"/>
                <a:ea typeface="Calibri" pitchFamily="34" charset="-122"/>
                <a:cs typeface="Calibri" pitchFamily="34" charset="-120"/>
              </a:rPr>
              <a:t>No formulas to edit — a manager clicks a slicer and instantly sees performance by year, category, or agent</a:t>
            </a:r>
            <a:endParaRPr lang="en-US" sz="1250" dirty="0"/>
          </a:p>
        </p:txBody>
      </p:sp>
      <p:sp>
        <p:nvSpPr>
          <p:cNvPr id="8" name="Shape 6"/>
          <p:cNvSpPr/>
          <p:nvPr/>
        </p:nvSpPr>
        <p:spPr>
          <a:xfrm>
            <a:off x="7589520" y="4297680"/>
            <a:ext cx="3749040" cy="0"/>
          </a:xfrm>
          <a:prstGeom prst="line">
            <a:avLst/>
          </a:prstGeom>
          <a:noFill/>
          <a:ln w="12700">
            <a:solidFill>
              <a:srgbClr val="3E5473"/>
            </a:solidFill>
            <a:prstDash val="solid"/>
          </a:ln>
        </p:spPr>
      </p:sp>
      <p:sp>
        <p:nvSpPr>
          <p:cNvPr id="9" name="Text 7"/>
          <p:cNvSpPr/>
          <p:nvPr/>
        </p:nvSpPr>
        <p:spPr>
          <a:xfrm>
            <a:off x="7589520" y="4480560"/>
            <a:ext cx="3749040" cy="274320"/>
          </a:xfrm>
          <a:prstGeom prst="rect">
            <a:avLst/>
          </a:prstGeom>
          <a:noFill/>
          <a:ln/>
        </p:spPr>
        <p:txBody>
          <a:bodyPr wrap="square" rtlCol="0" anchor="ctr"/>
          <a:lstStyle/>
          <a:p>
            <a:pPr marL="0" indent="0">
              <a:buNone/>
            </a:pPr>
            <a:r>
              <a:rPr lang="en-US" sz="1100" dirty="0">
                <a:solidFill>
                  <a:srgbClr val="8FA3C4"/>
                </a:solidFill>
                <a:latin typeface="Calibri" pitchFamily="34" charset="0"/>
                <a:ea typeface="Calibri" pitchFamily="34" charset="-122"/>
                <a:cs typeface="Calibri" pitchFamily="34" charset="-120"/>
              </a:rPr>
              <a:t>Source</a:t>
            </a:r>
            <a:endParaRPr lang="en-US" sz="1100" dirty="0"/>
          </a:p>
        </p:txBody>
      </p:sp>
      <p:sp>
        <p:nvSpPr>
          <p:cNvPr id="10" name="Text 8"/>
          <p:cNvSpPr/>
          <p:nvPr/>
        </p:nvSpPr>
        <p:spPr>
          <a:xfrm>
            <a:off x="7589520" y="4754880"/>
            <a:ext cx="3749040" cy="548640"/>
          </a:xfrm>
          <a:prstGeom prst="rect">
            <a:avLst/>
          </a:prstGeom>
          <a:noFill/>
          <a:ln/>
        </p:spPr>
        <p:txBody>
          <a:bodyPr wrap="square" rtlCol="0" anchor="ctr"/>
          <a:lstStyle/>
          <a:p>
            <a:pPr marL="0" indent="0">
              <a:lnSpc>
                <a:spcPts val="1600"/>
              </a:lnSpc>
              <a:buNone/>
            </a:pPr>
            <a:r>
              <a:rPr lang="en-US" sz="1150" dirty="0">
                <a:solidFill>
                  <a:srgbClr val="CFE3EE"/>
                </a:solidFill>
                <a:latin typeface="Calibri" pitchFamily="34" charset="0"/>
                <a:ea typeface="Calibri" pitchFamily="34" charset="-122"/>
                <a:cs typeface="Calibri" pitchFamily="34" charset="-120"/>
              </a:rPr>
              <a:t>Pivot Tables, Pivot Charts &amp; Dashboards — ExcelFun (YouTube)</a:t>
            </a:r>
            <a:endParaRPr lang="en-US" sz="1150" dirty="0"/>
          </a:p>
        </p:txBody>
      </p:sp>
      <p:sp>
        <p:nvSpPr>
          <p:cNvPr id="11" name="Text 9"/>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2" name="Text 10"/>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lgn="l">
              <a:buNone/>
            </a:pPr>
            <a:r>
              <a:rPr lang="en-US" sz="3000" b="1" dirty="0">
                <a:solidFill>
                  <a:srgbClr val="1B2A4A"/>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371600"/>
            <a:ext cx="457200" cy="457200"/>
          </a:xfrm>
          <a:prstGeom prst="ellipse">
            <a:avLst/>
          </a:prstGeom>
          <a:solidFill>
            <a:srgbClr val="2E86AB"/>
          </a:solidFill>
          <a:ln/>
        </p:spPr>
      </p:sp>
      <p:sp>
        <p:nvSpPr>
          <p:cNvPr id="4" name="Text 2"/>
          <p:cNvSpPr/>
          <p:nvPr/>
        </p:nvSpPr>
        <p:spPr>
          <a:xfrm>
            <a:off x="548640" y="1371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1188720" y="1325880"/>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1B2A4A"/>
                </a:solidFill>
                <a:latin typeface="Calibri" pitchFamily="34" charset="0"/>
                <a:ea typeface="Calibri" pitchFamily="34" charset="-122"/>
                <a:cs typeface="Calibri" pitchFamily="34" charset="-120"/>
              </a:rPr>
              <a:t>Ticket volume grew 122% over five years while headcount stayed flat — the team is doing more with the same resources.</a:t>
            </a:r>
            <a:endParaRPr lang="en-US" sz="1400" dirty="0"/>
          </a:p>
        </p:txBody>
      </p:sp>
      <p:sp>
        <p:nvSpPr>
          <p:cNvPr id="6" name="Shape 4"/>
          <p:cNvSpPr/>
          <p:nvPr/>
        </p:nvSpPr>
        <p:spPr>
          <a:xfrm>
            <a:off x="548640" y="2304288"/>
            <a:ext cx="457200" cy="457200"/>
          </a:xfrm>
          <a:prstGeom prst="ellipse">
            <a:avLst/>
          </a:prstGeom>
          <a:solidFill>
            <a:srgbClr val="2E86AB"/>
          </a:solidFill>
          <a:ln/>
        </p:spPr>
      </p:sp>
      <p:sp>
        <p:nvSpPr>
          <p:cNvPr id="7" name="Text 5"/>
          <p:cNvSpPr/>
          <p:nvPr/>
        </p:nvSpPr>
        <p:spPr>
          <a:xfrm>
            <a:off x="548640" y="2304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188720" y="2258568"/>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1B2A4A"/>
                </a:solidFill>
                <a:latin typeface="Calibri" pitchFamily="34" charset="0"/>
                <a:ea typeface="Calibri" pitchFamily="34" charset="-122"/>
                <a:cs typeface="Calibri" pitchFamily="34" charset="-120"/>
              </a:rPr>
              <a:t>System and Login Access dominate ticket volume, but Hardware and System tickets take the longest to resolve.</a:t>
            </a:r>
            <a:endParaRPr lang="en-US" sz="1400" dirty="0"/>
          </a:p>
        </p:txBody>
      </p:sp>
      <p:sp>
        <p:nvSpPr>
          <p:cNvPr id="9" name="Shape 7"/>
          <p:cNvSpPr/>
          <p:nvPr/>
        </p:nvSpPr>
        <p:spPr>
          <a:xfrm>
            <a:off x="548640" y="3236976"/>
            <a:ext cx="457200" cy="457200"/>
          </a:xfrm>
          <a:prstGeom prst="ellipse">
            <a:avLst/>
          </a:prstGeom>
          <a:solidFill>
            <a:srgbClr val="2E86AB"/>
          </a:solidFill>
          <a:ln/>
        </p:spPr>
      </p:sp>
      <p:sp>
        <p:nvSpPr>
          <p:cNvPr id="10" name="Text 8"/>
          <p:cNvSpPr/>
          <p:nvPr/>
        </p:nvSpPr>
        <p:spPr>
          <a:xfrm>
            <a:off x="548640" y="32369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188720" y="3191256"/>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1B2A4A"/>
                </a:solidFill>
                <a:latin typeface="Calibri" pitchFamily="34" charset="0"/>
                <a:ea typeface="Calibri" pitchFamily="34" charset="-122"/>
                <a:cs typeface="Calibri" pitchFamily="34" charset="-120"/>
              </a:rPr>
              <a:t>Customer satisfaction (4.10/5) is stable across severity levels — driven by service quality, not issue type.</a:t>
            </a:r>
            <a:endParaRPr lang="en-US" sz="1400" dirty="0"/>
          </a:p>
        </p:txBody>
      </p:sp>
      <p:sp>
        <p:nvSpPr>
          <p:cNvPr id="12" name="Shape 10"/>
          <p:cNvSpPr/>
          <p:nvPr/>
        </p:nvSpPr>
        <p:spPr>
          <a:xfrm>
            <a:off x="548640" y="4169664"/>
            <a:ext cx="457200" cy="457200"/>
          </a:xfrm>
          <a:prstGeom prst="ellipse">
            <a:avLst/>
          </a:prstGeom>
          <a:solidFill>
            <a:srgbClr val="2E86AB"/>
          </a:solidFill>
          <a:ln/>
        </p:spPr>
      </p:sp>
      <p:sp>
        <p:nvSpPr>
          <p:cNvPr id="13" name="Text 11"/>
          <p:cNvSpPr/>
          <p:nvPr/>
        </p:nvSpPr>
        <p:spPr>
          <a:xfrm>
            <a:off x="548640" y="4169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188720" y="4123944"/>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1B2A4A"/>
                </a:solidFill>
                <a:latin typeface="Calibri" pitchFamily="34" charset="0"/>
                <a:ea typeface="Calibri" pitchFamily="34" charset="-122"/>
                <a:cs typeface="Calibri" pitchFamily="34" charset="-120"/>
              </a:rPr>
              <a:t>20% of agents are clear candidates for coaching based on resolution time and satisfaction data.</a:t>
            </a:r>
            <a:endParaRPr lang="en-US" sz="1400" dirty="0"/>
          </a:p>
        </p:txBody>
      </p:sp>
      <p:sp>
        <p:nvSpPr>
          <p:cNvPr id="15" name="Shape 13"/>
          <p:cNvSpPr/>
          <p:nvPr/>
        </p:nvSpPr>
        <p:spPr>
          <a:xfrm>
            <a:off x="548640" y="5102352"/>
            <a:ext cx="457200" cy="457200"/>
          </a:xfrm>
          <a:prstGeom prst="ellipse">
            <a:avLst/>
          </a:prstGeom>
          <a:solidFill>
            <a:srgbClr val="2E86AB"/>
          </a:solidFill>
          <a:ln/>
        </p:spPr>
      </p:sp>
      <p:sp>
        <p:nvSpPr>
          <p:cNvPr id="16" name="Text 14"/>
          <p:cNvSpPr/>
          <p:nvPr/>
        </p:nvSpPr>
        <p:spPr>
          <a:xfrm>
            <a:off x="548640" y="51023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188720" y="5056632"/>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1B2A4A"/>
                </a:solidFill>
                <a:latin typeface="Calibri" pitchFamily="34" charset="0"/>
                <a:ea typeface="Calibri" pitchFamily="34" charset="-122"/>
                <a:cs typeface="Calibri" pitchFamily="34" charset="-120"/>
              </a:rPr>
              <a:t>The interactive dashboard turns this analysis into an ongoing monitoring tool, not a one-time report.</a:t>
            </a:r>
            <a:endParaRPr lang="en-US" sz="1400" dirty="0"/>
          </a:p>
        </p:txBody>
      </p:sp>
      <p:sp>
        <p:nvSpPr>
          <p:cNvPr id="18" name="Text 16"/>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6B7785"/>
                </a:solidFill>
                <a:latin typeface="Calibri" pitchFamily="34" charset="0"/>
                <a:ea typeface="Calibri" pitchFamily="34" charset="-122"/>
                <a:cs typeface="Calibri" pitchFamily="34" charset="-120"/>
              </a:rPr>
              <a:t>IT Support Ticket Analysis</a:t>
            </a:r>
            <a:endParaRPr lang="en-US" sz="900" dirty="0"/>
          </a:p>
        </p:txBody>
      </p:sp>
      <p:sp>
        <p:nvSpPr>
          <p:cNvPr id="19" name="Text 1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121D33"/>
          </a:solidFill>
          <a:ln/>
        </p:spPr>
      </p:sp>
      <p:sp>
        <p:nvSpPr>
          <p:cNvPr id="3" name="Shape 1"/>
          <p:cNvSpPr/>
          <p:nvPr/>
        </p:nvSpPr>
        <p:spPr>
          <a:xfrm>
            <a:off x="9875520" y="4389120"/>
            <a:ext cx="3840480" cy="3840480"/>
          </a:xfrm>
          <a:prstGeom prst="ellipse">
            <a:avLst/>
          </a:prstGeom>
          <a:solidFill>
            <a:srgbClr val="2E86AB"/>
          </a:solidFill>
          <a:ln/>
        </p:spPr>
      </p:sp>
      <p:sp>
        <p:nvSpPr>
          <p:cNvPr id="4" name="Text 2"/>
          <p:cNvSpPr/>
          <p:nvPr/>
        </p:nvSpPr>
        <p:spPr>
          <a:xfrm>
            <a:off x="731520" y="2743200"/>
            <a:ext cx="731520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Shape 3"/>
          <p:cNvSpPr/>
          <p:nvPr/>
        </p:nvSpPr>
        <p:spPr>
          <a:xfrm>
            <a:off x="777240" y="3703320"/>
            <a:ext cx="1188720" cy="82296"/>
          </a:xfrm>
          <a:prstGeom prst="rect">
            <a:avLst/>
          </a:prstGeom>
          <a:solidFill>
            <a:srgbClr val="F4A300"/>
          </a:solidFill>
          <a:ln/>
        </p:spPr>
      </p:sp>
      <p:sp>
        <p:nvSpPr>
          <p:cNvPr id="6" name="Text 4"/>
          <p:cNvSpPr/>
          <p:nvPr/>
        </p:nvSpPr>
        <p:spPr>
          <a:xfrm>
            <a:off x="731520" y="3931920"/>
            <a:ext cx="8229600" cy="457200"/>
          </a:xfrm>
          <a:prstGeom prst="rect">
            <a:avLst/>
          </a:prstGeom>
          <a:noFill/>
          <a:ln/>
        </p:spPr>
        <p:txBody>
          <a:bodyPr wrap="square" rtlCol="0" anchor="ctr"/>
          <a:lstStyle/>
          <a:p>
            <a:pPr marL="0" indent="0">
              <a:buNone/>
            </a:pPr>
            <a:r>
              <a:rPr lang="en-US" sz="1400" dirty="0">
                <a:solidFill>
                  <a:srgbClr val="CFE3EE"/>
                </a:solidFill>
                <a:latin typeface="Calibri" pitchFamily="34" charset="0"/>
                <a:ea typeface="Calibri" pitchFamily="34" charset="-122"/>
                <a:cs typeface="Calibri" pitchFamily="34" charset="-120"/>
              </a:rPr>
              <a:t>Vedang Pandey ·  IT Support Ticket Analysis  ·  Excel </a:t>
            </a:r>
            <a:r>
              <a:rPr lang="en-US" sz="1400">
                <a:solidFill>
                  <a:srgbClr val="CFE3EE"/>
                </a:solidFill>
                <a:latin typeface="Calibri" pitchFamily="34" charset="0"/>
                <a:ea typeface="Calibri" pitchFamily="34" charset="-122"/>
                <a:cs typeface="Calibri" pitchFamily="34" charset="-120"/>
              </a:rPr>
              <a:t>Final Project</a:t>
            </a:r>
            <a:endParaRPr lang="en-US" sz="1400" dirty="0"/>
          </a:p>
        </p:txBody>
      </p:sp>
      <p:sp>
        <p:nvSpPr>
          <p:cNvPr id="7" name="Text 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FA3C4"/>
                </a:solidFill>
                <a:latin typeface="Calibri" pitchFamily="34" charset="0"/>
                <a:ea typeface="Calibri" pitchFamily="34" charset="-122"/>
                <a:cs typeface="Calibri" pitchFamily="34" charset="-120"/>
              </a:rPr>
              <a:t>IT Support Ticket Analysis</a:t>
            </a:r>
            <a:endParaRPr lang="en-US" sz="900" dirty="0"/>
          </a:p>
        </p:txBody>
      </p:sp>
      <p:sp>
        <p:nvSpPr>
          <p:cNvPr id="8" name="Text 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FA3C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1738</Words>
  <Application>Microsoft Office PowerPoint</Application>
  <PresentationFormat>Widescreen</PresentationFormat>
  <Paragraphs>242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VEDANG PANDEY</cp:lastModifiedBy>
  <cp:revision>2</cp:revision>
  <dcterms:created xsi:type="dcterms:W3CDTF">2026-09-18T10:07:24Z</dcterms:created>
  <dcterms:modified xsi:type="dcterms:W3CDTF">2026-09-18T10:14:21Z</dcterms:modified>
</cp:coreProperties>
</file>